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3"/>
  </p:notesMasterIdLst>
  <p:sldIdLst>
    <p:sldId id="256" r:id="rId5"/>
    <p:sldId id="278" r:id="rId6"/>
    <p:sldId id="257" r:id="rId7"/>
    <p:sldId id="283" r:id="rId8"/>
    <p:sldId id="286" r:id="rId9"/>
    <p:sldId id="287" r:id="rId10"/>
    <p:sldId id="288" r:id="rId11"/>
    <p:sldId id="289" r:id="rId12"/>
    <p:sldId id="270" r:id="rId13"/>
    <p:sldId id="262" r:id="rId14"/>
    <p:sldId id="292" r:id="rId15"/>
    <p:sldId id="301" r:id="rId16"/>
    <p:sldId id="264" r:id="rId17"/>
    <p:sldId id="298" r:id="rId18"/>
    <p:sldId id="284" r:id="rId19"/>
    <p:sldId id="299" r:id="rId20"/>
    <p:sldId id="300" r:id="rId21"/>
    <p:sldId id="294" r:id="rId22"/>
    <p:sldId id="266" r:id="rId23"/>
    <p:sldId id="285" r:id="rId24"/>
    <p:sldId id="265" r:id="rId25"/>
    <p:sldId id="277" r:id="rId26"/>
    <p:sldId id="290" r:id="rId27"/>
    <p:sldId id="267" r:id="rId28"/>
    <p:sldId id="269" r:id="rId29"/>
    <p:sldId id="296" r:id="rId30"/>
    <p:sldId id="295" r:id="rId31"/>
    <p:sldId id="297" r:id="rId32"/>
  </p:sldIdLst>
  <p:sldSz cx="12192000" cy="6858000"/>
  <p:notesSz cx="6858000" cy="9144000"/>
  <p:defaultTextStyle>
    <a:defPPr>
      <a:defRPr lang="pt-BR"/>
    </a:defPPr>
    <a:lvl1pPr marL="0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6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4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71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28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84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40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98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55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26" Type="http://schemas.openxmlformats.org/officeDocument/2006/relationships/slide" Target="slides/slide22.xml" /><Relationship Id="rId3" Type="http://schemas.openxmlformats.org/officeDocument/2006/relationships/customXml" Target="../customXml/item3.xml" /><Relationship Id="rId21" Type="http://schemas.openxmlformats.org/officeDocument/2006/relationships/slide" Target="slides/slide17.xml" /><Relationship Id="rId34" Type="http://schemas.openxmlformats.org/officeDocument/2006/relationships/presProps" Target="presProp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slide" Target="slides/slide21.xml" /><Relationship Id="rId33" Type="http://schemas.openxmlformats.org/officeDocument/2006/relationships/notesMaster" Target="notesMasters/notesMaster1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slide" Target="slides/slide16.xml" /><Relationship Id="rId29" Type="http://schemas.openxmlformats.org/officeDocument/2006/relationships/slide" Target="slides/slide25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slide" Target="slides/slide20.xml" /><Relationship Id="rId32" Type="http://schemas.openxmlformats.org/officeDocument/2006/relationships/slide" Target="slides/slide28.xml" /><Relationship Id="rId37" Type="http://schemas.openxmlformats.org/officeDocument/2006/relationships/tableStyles" Target="tableStyles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slide" Target="slides/slide19.xml" /><Relationship Id="rId28" Type="http://schemas.openxmlformats.org/officeDocument/2006/relationships/slide" Target="slides/slide24.xml" /><Relationship Id="rId36" Type="http://schemas.openxmlformats.org/officeDocument/2006/relationships/theme" Target="theme/theme1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31" Type="http://schemas.openxmlformats.org/officeDocument/2006/relationships/slide" Target="slides/slide27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slide" Target="slides/slide18.xml" /><Relationship Id="rId27" Type="http://schemas.openxmlformats.org/officeDocument/2006/relationships/slide" Target="slides/slide23.xml" /><Relationship Id="rId30" Type="http://schemas.openxmlformats.org/officeDocument/2006/relationships/slide" Target="slides/slide26.xml" /><Relationship Id="rId35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CAF243-C119-4CE5-B27C-0A40FC517A49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4AB96B-32C8-4497-940B-288ABCB63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455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6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4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1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28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4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0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98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55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9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9" indent="0" algn="ctr">
              <a:buNone/>
              <a:defRPr sz="2000"/>
            </a:lvl2pPr>
            <a:lvl3pPr marL="914418" indent="0" algn="ctr">
              <a:buNone/>
              <a:defRPr sz="1800"/>
            </a:lvl3pPr>
            <a:lvl4pPr marL="1371627" indent="0" algn="ctr">
              <a:buNone/>
              <a:defRPr sz="1600"/>
            </a:lvl4pPr>
            <a:lvl5pPr marL="1828837" indent="0" algn="ctr">
              <a:buNone/>
              <a:defRPr sz="1600"/>
            </a:lvl5pPr>
            <a:lvl6pPr marL="2286046" indent="0" algn="ctr">
              <a:buNone/>
              <a:defRPr sz="1600"/>
            </a:lvl6pPr>
            <a:lvl7pPr marL="2743255" indent="0" algn="ctr">
              <a:buNone/>
              <a:defRPr sz="1600"/>
            </a:lvl7pPr>
            <a:lvl8pPr marL="3200464" indent="0" algn="ctr">
              <a:buNone/>
              <a:defRPr sz="1600"/>
            </a:lvl8pPr>
            <a:lvl9pPr marL="365767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9" y="6209927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</p:spTree>
    <p:extLst>
      <p:ext uri="{BB962C8B-B14F-4D97-AF65-F5344CB8AC3E}">
        <p14:creationId xmlns:p14="http://schemas.microsoft.com/office/powerpoint/2010/main" val="3597935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0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9" y="3566641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3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2" y="978410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51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51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43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2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1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7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7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6"/>
            <a:ext cx="27432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48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39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2" y="978410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5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2" y="3361040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03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2" y="978410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70" y="987427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7" indent="0">
              <a:buNone/>
              <a:defRPr sz="2000"/>
            </a:lvl4pPr>
            <a:lvl5pPr marL="1828837" indent="0">
              <a:buNone/>
              <a:defRPr sz="2000"/>
            </a:lvl5pPr>
            <a:lvl6pPr marL="2286046" indent="0">
              <a:buNone/>
              <a:defRPr sz="2000"/>
            </a:lvl6pPr>
            <a:lvl7pPr marL="2743255" indent="0">
              <a:buNone/>
              <a:defRPr sz="2000"/>
            </a:lvl7pPr>
            <a:lvl8pPr marL="3200464" indent="0">
              <a:buNone/>
              <a:defRPr sz="2000"/>
            </a:lvl8pPr>
            <a:lvl9pPr marL="3657673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2" y="3340444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1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387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2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2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9" y="6209927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</p:spTree>
    <p:extLst>
      <p:ext uri="{BB962C8B-B14F-4D97-AF65-F5344CB8AC3E}">
        <p14:creationId xmlns:p14="http://schemas.microsoft.com/office/powerpoint/2010/main" val="1531440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2" y="978409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9" y="6420416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2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517870" y="508092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517870" y="508092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7"/>
          </a:p>
        </p:txBody>
      </p:sp>
    </p:spTree>
    <p:extLst>
      <p:ext uri="{BB962C8B-B14F-4D97-AF65-F5344CB8AC3E}">
        <p14:creationId xmlns:p14="http://schemas.microsoft.com/office/powerpoint/2010/main" val="73305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18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18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5" indent="-274325" algn="l" defTabSz="914418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5" indent="0" algn="l" defTabSz="914418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51" indent="-274325" algn="l" defTabSz="914418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51" indent="0" algn="l" defTabSz="914418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50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5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6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78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6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5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4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3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.png" /><Relationship Id="rId4" Type="http://schemas.openxmlformats.org/officeDocument/2006/relationships/image" Target="../media/image6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.png" /><Relationship Id="rId4" Type="http://schemas.openxmlformats.org/officeDocument/2006/relationships/image" Target="../media/image8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.png" /><Relationship Id="rId4" Type="http://schemas.openxmlformats.org/officeDocument/2006/relationships/image" Target="../media/image9.jpe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.png" /><Relationship Id="rId4" Type="http://schemas.openxmlformats.org/officeDocument/2006/relationships/image" Target="../media/image11.jpe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.png" /><Relationship Id="rId4" Type="http://schemas.openxmlformats.org/officeDocument/2006/relationships/image" Target="../media/image13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.png" /><Relationship Id="rId4" Type="http://schemas.openxmlformats.org/officeDocument/2006/relationships/image" Target="../media/image15.jpe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.png" /><Relationship Id="rId4" Type="http://schemas.openxmlformats.org/officeDocument/2006/relationships/image" Target="../media/image18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.png" /><Relationship Id="rId4" Type="http://schemas.openxmlformats.org/officeDocument/2006/relationships/image" Target="../media/image19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png" 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 /><Relationship Id="rId3" Type="http://schemas.openxmlformats.org/officeDocument/2006/relationships/image" Target="../media/image21.png" /><Relationship Id="rId7" Type="http://schemas.openxmlformats.org/officeDocument/2006/relationships/image" Target="../media/image24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.png" /><Relationship Id="rId5" Type="http://schemas.openxmlformats.org/officeDocument/2006/relationships/image" Target="../media/image23.png" /><Relationship Id="rId4" Type="http://schemas.openxmlformats.org/officeDocument/2006/relationships/image" Target="../media/image22.png" 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 /><Relationship Id="rId3" Type="http://schemas.openxmlformats.org/officeDocument/2006/relationships/image" Target="../media/image21.png" /><Relationship Id="rId7" Type="http://schemas.openxmlformats.org/officeDocument/2006/relationships/image" Target="../media/image28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.png" /><Relationship Id="rId5" Type="http://schemas.openxmlformats.org/officeDocument/2006/relationships/image" Target="../media/image27.png" /><Relationship Id="rId4" Type="http://schemas.openxmlformats.org/officeDocument/2006/relationships/image" Target="../media/image26.png" 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 /><Relationship Id="rId3" Type="http://schemas.openxmlformats.org/officeDocument/2006/relationships/image" Target="../media/image31.png" /><Relationship Id="rId7" Type="http://schemas.openxmlformats.org/officeDocument/2006/relationships/image" Target="../media/image3.png" /><Relationship Id="rId2" Type="http://schemas.openxmlformats.org/officeDocument/2006/relationships/image" Target="../media/image30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2.png" /><Relationship Id="rId5" Type="http://schemas.openxmlformats.org/officeDocument/2006/relationships/image" Target="../media/image21.png" /><Relationship Id="rId4" Type="http://schemas.openxmlformats.org/officeDocument/2006/relationships/image" Target="../media/image2.png" 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 /><Relationship Id="rId3" Type="http://schemas.openxmlformats.org/officeDocument/2006/relationships/image" Target="../media/image35.png" /><Relationship Id="rId7" Type="http://schemas.openxmlformats.org/officeDocument/2006/relationships/image" Target="../media/image37.png" /><Relationship Id="rId2" Type="http://schemas.openxmlformats.org/officeDocument/2006/relationships/image" Target="../media/image34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1.png" /><Relationship Id="rId5" Type="http://schemas.openxmlformats.org/officeDocument/2006/relationships/image" Target="../media/image2.png" /><Relationship Id="rId10" Type="http://schemas.openxmlformats.org/officeDocument/2006/relationships/image" Target="../media/image39.png" /><Relationship Id="rId4" Type="http://schemas.openxmlformats.org/officeDocument/2006/relationships/image" Target="../media/image36.png" /><Relationship Id="rId9" Type="http://schemas.openxmlformats.org/officeDocument/2006/relationships/image" Target="../media/image3.pn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0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pn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0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png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pn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png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 /><Relationship Id="rId7" Type="http://schemas.openxmlformats.org/officeDocument/2006/relationships/image" Target="../media/image45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44.png" /><Relationship Id="rId5" Type="http://schemas.openxmlformats.org/officeDocument/2006/relationships/image" Target="../media/image43.png" /><Relationship Id="rId4" Type="http://schemas.openxmlformats.org/officeDocument/2006/relationships/image" Target="../media/image3.png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6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6.pn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png" 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exame.com/negocios/veja-a-lista-dos-10-maiores-pedidos-da-embraer/" TargetMode="External" /><Relationship Id="rId13" Type="http://schemas.openxmlformats.org/officeDocument/2006/relationships/image" Target="../media/image3.png" /><Relationship Id="rId3" Type="http://schemas.openxmlformats.org/officeDocument/2006/relationships/image" Target="../media/image48.png" /><Relationship Id="rId7" Type="http://schemas.openxmlformats.org/officeDocument/2006/relationships/hyperlink" Target="https://oglobo.globo.com/economia/noticia/2024/05/02/embraer-estuda-aviao-para-concorrer-com-boeing-e-airbus-diz-imprensa-internacional.ghtml" TargetMode="External" /><Relationship Id="rId12" Type="http://schemas.openxmlformats.org/officeDocument/2006/relationships/hyperlink" Target="https://www.boeing.com.br/news/2020/boeing-terminates-agreement-with-embraer" TargetMode="External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ri.embraer.com.br/governanca/composicao-acionaria/" TargetMode="External" /><Relationship Id="rId11" Type="http://schemas.openxmlformats.org/officeDocument/2006/relationships/hyperlink" Target="https://eviation.com.br/concorrentes-da-embraer/" TargetMode="External" /><Relationship Id="rId5" Type="http://schemas.openxmlformats.org/officeDocument/2006/relationships/hyperlink" Target="https://www.cnnbrasil.com.br/economia/macroeconomia/entenda-porque-a-embraer-vende-mais-aviao-no-exterior-do-que-no-brasil/" TargetMode="External" /><Relationship Id="rId10" Type="http://schemas.openxmlformats.org/officeDocument/2006/relationships/hyperlink" Target="https://www.poder360.com.br/poder-infra/embraer-anuncia-programa-para-recompra-de-107-milhao-de-acoes/" TargetMode="External" /><Relationship Id="rId4" Type="http://schemas.openxmlformats.org/officeDocument/2006/relationships/hyperlink" Target="https://embraer.com/br/pt/sobre-nos" TargetMode="External" /><Relationship Id="rId9" Type="http://schemas.openxmlformats.org/officeDocument/2006/relationships/hyperlink" Target="https://oglobo.globo.com/economia/negocios/noticia/2024/06/19/embraer-quer-entrar-no-mercado-de-defesa-dos-eua-e-estuda-ate-aquisicoes-no-pais.ghtml" TargetMode="External" 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nnbrasil.com.br/economia/macroeconomia/air-astana-processa-embraer-por-avioes-com-serios-problemas-de-seguranca/" TargetMode="External" /><Relationship Id="rId13" Type="http://schemas.openxmlformats.org/officeDocument/2006/relationships/image" Target="../media/image3.png" /><Relationship Id="rId3" Type="http://schemas.openxmlformats.org/officeDocument/2006/relationships/image" Target="../media/image48.png" /><Relationship Id="rId7" Type="http://schemas.openxmlformats.org/officeDocument/2006/relationships/hyperlink" Target="https://www.panrotas.com.br/aviacao/investimentos/2024/11/custo-da-transicao-sustentavel-das-empresas-aereas-sera-de-us-47-trilhoes_211265.html" TargetMode="External" /><Relationship Id="rId12" Type="http://schemas.openxmlformats.org/officeDocument/2006/relationships/hyperlink" Target="https://www.ft.com/content/e3edc599-8ee5-448f-b05f-8c89fb658bcb" TargetMode="External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veja.abril.com.br/mundo/viagens-aereas-internacionais-e-domesticas-tem-crescimento-recorde-em-2024" TargetMode="External" /><Relationship Id="rId11" Type="http://schemas.openxmlformats.org/officeDocument/2006/relationships/hyperlink" Target="https://www.aereo.jor.br/2024/07/03/mudanca-de-natureza-verbas-de-gripen-e-kc-390-deixam-de-ser-investimentos/" TargetMode="External" /><Relationship Id="rId5" Type="http://schemas.openxmlformats.org/officeDocument/2006/relationships/hyperlink" Target="https://www.cnnbrasil.com.br/internacional/nivel-de-gastos-militares-mundiais-e-o-maior-em-40-anos-diz-relatorio/#:~:text=O%20aumento%20de%209%2C4,a%20crescente%20corrida%20armamentista%20global" TargetMode="External" /><Relationship Id="rId10" Type="http://schemas.openxmlformats.org/officeDocument/2006/relationships/hyperlink" Target="https://aeroin.net/escassez-de-motores-obriga-embraer-a-reduzir-expectativa-de-producao-de-e-jets-em-2024/" TargetMode="External" /><Relationship Id="rId4" Type="http://schemas.openxmlformats.org/officeDocument/2006/relationships/hyperlink" Target="https://www.panrotas.com.br/mercado/sustentabilidade/2023/01/turismo-sustentavel-esta-na-preferencia-de-69-dos-viajantes_194348.html" TargetMode="External" /><Relationship Id="rId9" Type="http://schemas.openxmlformats.org/officeDocument/2006/relationships/hyperlink" Target="https://www.infomoney.com.br/mercados/embraer-embr3-aponta-dificuldades-em-conseguir-pecas-para-producao/" TargetMode="External" 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economia.uol.com.br/todos-a-bordo/2020/02/10/companhias-aereas-que-voam-embraer.htm" TargetMode="External" /><Relationship Id="rId13" Type="http://schemas.openxmlformats.org/officeDocument/2006/relationships/image" Target="../media/image3.png" /><Relationship Id="rId3" Type="http://schemas.openxmlformats.org/officeDocument/2006/relationships/image" Target="../media/image48.png" /><Relationship Id="rId7" Type="http://schemas.openxmlformats.org/officeDocument/2006/relationships/hyperlink" Target="https://ri.embraer.com.br/governanca/estrutura-organizacional-2/" TargetMode="External" /><Relationship Id="rId12" Type="http://schemas.openxmlformats.org/officeDocument/2006/relationships/hyperlink" Target="https://embraer.com/br/pt/valores" TargetMode="External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www.wsj.com/business/airlines/boeing-partner-embraer-aircraft-manufacturing-edf3758a" TargetMode="External" /><Relationship Id="rId11" Type="http://schemas.openxmlformats.org/officeDocument/2006/relationships/hyperlink" Target="https://canvasbusinessmodel.com/pt/blogs/mission/embraer-mission" TargetMode="External" /><Relationship Id="rId5" Type="http://schemas.openxmlformats.org/officeDocument/2006/relationships/hyperlink" Target="https://aeroin.net/bombardier-sai-programa-airbus-a220-se-desliga-aviacao-comercial/" TargetMode="External" /><Relationship Id="rId10" Type="http://schemas.openxmlformats.org/officeDocument/2006/relationships/hyperlink" Target="https://defense.embraer.com/pt/air/c-390/" TargetMode="External" /><Relationship Id="rId4" Type="http://schemas.openxmlformats.org/officeDocument/2006/relationships/hyperlink" Target="https://www.airway.com.br/embraer-diminui-distancia-em-pedidos-do-e2-para-o-airbus-a220/" TargetMode="External" /><Relationship Id="rId9" Type="http://schemas.openxmlformats.org/officeDocument/2006/relationships/hyperlink" Target="https://clickpetroleoegas.com.br/orgulho-nacional-embraer-domina-mercado-global-deixa-gigantes-para-tras-e-posiciona-o-brasil-lider-mundial-ao-vender-dezenas-de-aeronaves-militares/" TargetMode="External" 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azetadopovo.com.br/economia/embraer-perde-encomenda-de-60-avioes-para-rival-airbus-em-negociacao-com-jetblue-83in462whk2477rp9zmbrunz0/" TargetMode="External" /><Relationship Id="rId3" Type="http://schemas.openxmlformats.org/officeDocument/2006/relationships/image" Target="../media/image48.png" /><Relationship Id="rId7" Type="http://schemas.openxmlformats.org/officeDocument/2006/relationships/hyperlink" Target="https://www.panrotas.com.br/aviacao/pesquisas-e-estatisticas/2024/12/brasileiros-consideram-essencial-ter-wi-fi-em-voos-longos-veja-estudo-da-viasat_212752.html" TargetMode="External" /><Relationship Id="rId12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aviationsourcenews.com/global-air-travel-demand-continues-to-rise-in-october/" TargetMode="External" /><Relationship Id="rId11" Type="http://schemas.openxmlformats.org/officeDocument/2006/relationships/hyperlink" Target="https://www.embraer.com/br/pt/social" TargetMode="External" /><Relationship Id="rId5" Type="http://schemas.openxmlformats.org/officeDocument/2006/relationships/hyperlink" Target="https://exame.com/negocios/veja-a-lista-dos-10-maiores-pedidos-da-embraer/" TargetMode="External" /><Relationship Id="rId10" Type="http://schemas.openxmlformats.org/officeDocument/2006/relationships/hyperlink" Target="https://dcfmodeling.com/pt/blogs/vision/erj-mission-vision" TargetMode="External" /><Relationship Id="rId4" Type="http://schemas.openxmlformats.org/officeDocument/2006/relationships/hyperlink" Target="https://embraer.bynder.com/m/5d4e90c9c49113e2/original/EHS-Corporate-Policy.pdf" TargetMode="External" /><Relationship Id="rId9" Type="http://schemas.openxmlformats.org/officeDocument/2006/relationships/hyperlink" Target="https://frotacia.com.br/prazo-de-entrega-e-maior-preocupacao-entre-empresas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8">
              <a:defRPr/>
            </a:pPr>
            <a:endParaRPr lang="en-US">
              <a:solidFill>
                <a:prstClr val="white"/>
              </a:solidFill>
              <a:latin typeface="Bierstadt"/>
            </a:endParaRPr>
          </a:p>
        </p:txBody>
      </p:sp>
      <p:pic>
        <p:nvPicPr>
          <p:cNvPr id="4" name="Picture 3" descr="Vista de cima da mesa de madeira com a planta, teclado branco, café em uma caneca branca, caderno de anotações e caneta">
            <a:extLst>
              <a:ext uri="{FF2B5EF4-FFF2-40B4-BE49-F238E27FC236}">
                <a16:creationId xmlns:a16="http://schemas.microsoft.com/office/drawing/2014/main" id="{FA295ADF-224B-DCC0-83C9-9AF6C540801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t="1962" b="15012"/>
          <a:stretch/>
        </p:blipFill>
        <p:spPr>
          <a:xfrm>
            <a:off x="23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8">
              <a:defRPr/>
            </a:pPr>
            <a:endParaRPr lang="en-US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053ECD-2DC2-E50F-FB85-30418079B3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753" y="1437836"/>
            <a:ext cx="4795819" cy="2072713"/>
          </a:xfrm>
        </p:spPr>
        <p:txBody>
          <a:bodyPr anchor="t">
            <a:normAutofit fontScale="90000"/>
          </a:bodyPr>
          <a:lstStyle/>
          <a:p>
            <a:r>
              <a:rPr lang="pt-BR" sz="6600">
                <a:latin typeface="Arial" panose="020B0604020202020204" pitchFamily="34" charset="0"/>
                <a:cs typeface="Arial" panose="020B0604020202020204" pitchFamily="34" charset="0"/>
              </a:rPr>
              <a:t>Conhecendo o Negócio</a:t>
            </a:r>
            <a:br>
              <a:rPr lang="pt-BR" sz="66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66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197999-31E7-4DA4-C478-770DA010F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 fontScale="92500" lnSpcReduction="10000"/>
          </a:bodyPr>
          <a:lstStyle/>
          <a:p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Projeto Integrador I</a:t>
            </a:r>
          </a:p>
          <a:p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Curso de Ciência de Dados para Negócios</a:t>
            </a:r>
          </a:p>
          <a:p>
            <a:endParaRPr lang="pt-B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3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8">
              <a:defRPr/>
            </a:pPr>
            <a:endParaRPr lang="en-US">
              <a:solidFill>
                <a:prstClr val="white"/>
              </a:solidFill>
              <a:latin typeface="Bierstadt"/>
            </a:endParaRPr>
          </a:p>
        </p:txBody>
      </p:sp>
      <p:pic>
        <p:nvPicPr>
          <p:cNvPr id="5" name="Picture 2" descr="Fatec Votorantim">
            <a:extLst>
              <a:ext uri="{FF2B5EF4-FFF2-40B4-BE49-F238E27FC236}">
                <a16:creationId xmlns:a16="http://schemas.microsoft.com/office/drawing/2014/main" id="{675410B1-77E8-0471-1B6D-A51D1563A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91637">
            <a:off x="8347014" y="5107469"/>
            <a:ext cx="1793408" cy="470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 descr="Embraer Logo – PNG e Vetor – Download de Logo">
            <a:extLst>
              <a:ext uri="{FF2B5EF4-FFF2-40B4-BE49-F238E27FC236}">
                <a16:creationId xmlns:a16="http://schemas.microsoft.com/office/drawing/2014/main" id="{EE867018-CF8D-E748-A614-94E1575E3D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0" t="7650" r="-1990" b="2655"/>
          <a:stretch>
            <a:fillRect/>
          </a:stretch>
        </p:blipFill>
        <p:spPr>
          <a:xfrm rot="19260000">
            <a:off x="8584897" y="4873885"/>
            <a:ext cx="2221262" cy="191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820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8C19D-7150-480B-9EE5-3EFD6C0DF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782" y="643131"/>
            <a:ext cx="6958042" cy="1292349"/>
          </a:xfrm>
        </p:spPr>
        <p:txBody>
          <a:bodyPr>
            <a:noAutofit/>
          </a:bodyPr>
          <a:lstStyle/>
          <a:p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Apresentação da equipe</a:t>
            </a:r>
          </a:p>
        </p:txBody>
      </p:sp>
      <p:sp>
        <p:nvSpPr>
          <p:cNvPr id="3" name="Triângulo Retângulo 3">
            <a:extLst>
              <a:ext uri="{FF2B5EF4-FFF2-40B4-BE49-F238E27FC236}">
                <a16:creationId xmlns:a16="http://schemas.microsoft.com/office/drawing/2014/main" id="{116EC607-7B07-9A91-D369-2DEAE8471510}"/>
              </a:ext>
            </a:extLst>
          </p:cNvPr>
          <p:cNvSpPr/>
          <p:nvPr/>
        </p:nvSpPr>
        <p:spPr>
          <a:xfrm>
            <a:off x="629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>
              <a:solidFill>
                <a:srgbClr val="0070C0"/>
              </a:solidFill>
              <a:highlight>
                <a:srgbClr val="0000FF"/>
              </a:highlight>
            </a:endParaRPr>
          </a:p>
        </p:txBody>
      </p:sp>
      <p:grpSp>
        <p:nvGrpSpPr>
          <p:cNvPr id="4" name="Agrupar 8">
            <a:extLst>
              <a:ext uri="{FF2B5EF4-FFF2-40B4-BE49-F238E27FC236}">
                <a16:creationId xmlns:a16="http://schemas.microsoft.com/office/drawing/2014/main" id="{441826E1-8789-499B-8AFE-908280E11066}"/>
              </a:ext>
            </a:extLst>
          </p:cNvPr>
          <p:cNvGrpSpPr/>
          <p:nvPr/>
        </p:nvGrpSpPr>
        <p:grpSpPr>
          <a:xfrm>
            <a:off x="179269" y="5643371"/>
            <a:ext cx="1051560" cy="1051560"/>
            <a:chOff x="175138" y="3226487"/>
            <a:chExt cx="1402080" cy="1402080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713A823-AFD0-97C8-29A8-EF2E637DE1C3}"/>
                </a:ext>
              </a:extLst>
            </p:cNvPr>
            <p:cNvSpPr/>
            <p:nvPr/>
          </p:nvSpPr>
          <p:spPr>
            <a:xfrm>
              <a:off x="175138" y="3226487"/>
              <a:ext cx="1402080" cy="140208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6" name="Imagem 5" descr="Forma, Círculo&#10;&#10;O conteúdo gerado por IA pode estar incorreto.">
              <a:extLst>
                <a:ext uri="{FF2B5EF4-FFF2-40B4-BE49-F238E27FC236}">
                  <a16:creationId xmlns:a16="http://schemas.microsoft.com/office/drawing/2014/main" id="{848D33FF-59D6-D924-139E-DA1B95401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394" y="3372743"/>
              <a:ext cx="1109568" cy="1109568"/>
            </a:xfrm>
            <a:prstGeom prst="rect">
              <a:avLst/>
            </a:prstGeom>
          </p:spPr>
        </p:pic>
      </p:grp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87DC4F80-568E-C69C-870A-0874FB719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987" y="1603322"/>
            <a:ext cx="7233491" cy="38106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>
                <a:latin typeface="Arial"/>
                <a:cs typeface="Times New Roman"/>
              </a:rPr>
              <a:t>Christian Pereira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>
                <a:latin typeface="Arial"/>
                <a:cs typeface="Times New Roman"/>
              </a:rPr>
              <a:t>Gabriel Rufino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>
                <a:latin typeface="Arial"/>
                <a:cs typeface="Times New Roman"/>
              </a:rPr>
              <a:t>João Gabriel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>
                <a:latin typeface="Arial"/>
                <a:cs typeface="Times New Roman"/>
              </a:rPr>
              <a:t>Leonardo Augusto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>
                <a:latin typeface="Arial"/>
                <a:cs typeface="Times New Roman"/>
              </a:rPr>
              <a:t>Lucas Barros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>
                <a:latin typeface="Arial"/>
                <a:cs typeface="Times New Roman"/>
              </a:rPr>
              <a:t>Lucas Torres</a:t>
            </a:r>
          </a:p>
        </p:txBody>
      </p:sp>
      <p:pic>
        <p:nvPicPr>
          <p:cNvPr id="7" name="Imagem 6" descr="Embraer Logo – PNG e Vetor – Download de Logo">
            <a:extLst>
              <a:ext uri="{FF2B5EF4-FFF2-40B4-BE49-F238E27FC236}">
                <a16:creationId xmlns:a16="http://schemas.microsoft.com/office/drawing/2014/main" id="{D7992416-E550-5296-F096-BA7C5869D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5058" y="5773454"/>
            <a:ext cx="1542790" cy="152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0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D89C4-053F-18E2-B15A-EBDA32C6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51" y="688849"/>
            <a:ext cx="5021182" cy="8351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5327F3-FD2F-08E7-C2FE-F92810D76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266" y="1713808"/>
            <a:ext cx="7233491" cy="34502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>
                <a:latin typeface="Arial"/>
                <a:ea typeface="+mn-lt"/>
                <a:cs typeface="+mn-lt"/>
              </a:rPr>
              <a:t>Escolher a Embraer representa optar por uma empresa referência global no setor aeroespacial.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>
                <a:latin typeface="Arial"/>
                <a:ea typeface="+mn-lt"/>
                <a:cs typeface="+mn-lt"/>
              </a:rPr>
              <a:t>Por estar listada na bolsa de valores, há fácil acesso a diversos dados, como financeiros, operacionais e estratégicos.</a:t>
            </a:r>
          </a:p>
          <a:p>
            <a:pPr marL="342900" indent="-342900">
              <a:buChar char="•"/>
            </a:pPr>
            <a:r>
              <a:rPr lang="pt-BR" sz="2200">
                <a:latin typeface="Arial"/>
                <a:ea typeface="+mn-lt"/>
                <a:cs typeface="+mn-lt"/>
              </a:rPr>
              <a:t>Estudar a Embraer permite entender a dinâmica de grandes corporações e os desafios e oportunidades do setor aéreo global.</a:t>
            </a:r>
          </a:p>
          <a:p>
            <a:pPr marL="342900" indent="-342900">
              <a:buChar char="•"/>
            </a:pPr>
            <a:endParaRPr lang="pt-BR" sz="2200">
              <a:latin typeface="Arial"/>
              <a:ea typeface="+mn-lt"/>
              <a:cs typeface="+mn-lt"/>
            </a:endParaRPr>
          </a:p>
          <a:p>
            <a:pPr marL="342900" indent="-342900">
              <a:buChar char="•"/>
            </a:pPr>
            <a:endParaRPr lang="pt-BR" sz="2200">
              <a:ea typeface="+mn-lt"/>
              <a:cs typeface="+mn-lt"/>
            </a:endParaRP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116EC607-7B07-9A91-D369-2DEAE8471510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ECAC0DFB-AD73-8183-0EF7-EFFABD9F7C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50" y="5750051"/>
            <a:ext cx="990600" cy="990600"/>
          </a:xfrm>
          <a:prstGeom prst="rect">
            <a:avLst/>
          </a:prstGeom>
        </p:spPr>
      </p:pic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E19D8493-9A9C-8D11-2058-7BC3906A4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 descr="Embraer anuncia expansão de sua rede de serviços em três continentes |  Monitor Mercantil">
            <a:extLst>
              <a:ext uri="{FF2B5EF4-FFF2-40B4-BE49-F238E27FC236}">
                <a16:creationId xmlns:a16="http://schemas.microsoft.com/office/drawing/2014/main" id="{73946D90-B2E1-D663-4E12-C4551C87F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313" y="2124213"/>
            <a:ext cx="3472069" cy="2609573"/>
          </a:xfrm>
          <a:prstGeom prst="rect">
            <a:avLst/>
          </a:prstGeom>
          <a:ln>
            <a:noFill/>
          </a:ln>
        </p:spPr>
      </p:pic>
      <p:pic>
        <p:nvPicPr>
          <p:cNvPr id="8" name="Imagem 7" descr="Embraer Logo – PNG e Vetor – Download de Logo">
            <a:extLst>
              <a:ext uri="{FF2B5EF4-FFF2-40B4-BE49-F238E27FC236}">
                <a16:creationId xmlns:a16="http://schemas.microsoft.com/office/drawing/2014/main" id="{EF6E1AFB-AE32-AAD4-3CB5-D3CF541357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7687" y="5606441"/>
            <a:ext cx="1678488" cy="169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08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D89C4-053F-18E2-B15A-EBDA32C6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50" y="688849"/>
            <a:ext cx="5008230" cy="835152"/>
          </a:xfrm>
        </p:spPr>
        <p:txBody>
          <a:bodyPr>
            <a:noAutofit/>
          </a:bodyPr>
          <a:lstStyle/>
          <a:p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Apresentação da Empresa</a:t>
            </a: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116EC607-7B07-9A91-D369-2DEAE8471510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E19D8493-9A9C-8D11-2058-7BC3906A4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 descr="Interface gráfica do usuário, Aplicativo, Ícone&#10;&#10;O conteúdo gerado por IA pode estar incorreto.">
            <a:extLst>
              <a:ext uri="{FF2B5EF4-FFF2-40B4-BE49-F238E27FC236}">
                <a16:creationId xmlns:a16="http://schemas.microsoft.com/office/drawing/2014/main" id="{14C1BDF0-191E-91A9-BEC6-5BF0C7949B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35" y="5680061"/>
            <a:ext cx="1057882" cy="10578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C3E5335-7D80-15C3-2A92-DE6FFC1EBC49}"/>
              </a:ext>
            </a:extLst>
          </p:cNvPr>
          <p:cNvSpPr txBox="1"/>
          <p:nvPr/>
        </p:nvSpPr>
        <p:spPr>
          <a:xfrm>
            <a:off x="5116945" y="2034309"/>
            <a:ext cx="692265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>
                <a:latin typeface="Arial"/>
                <a:cs typeface="Arial"/>
              </a:rPr>
              <a:t>Fundada em 1969 no Brasil, a Embraer possui destaca no nicho de aeronaves regionais e de rotas caseiras mais curtas, se tornando uma referência nessa categoria.</a:t>
            </a:r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DBCDF56-53D7-F397-67CD-44BBB379F327}"/>
              </a:ext>
            </a:extLst>
          </p:cNvPr>
          <p:cNvSpPr txBox="1"/>
          <p:nvPr/>
        </p:nvSpPr>
        <p:spPr>
          <a:xfrm>
            <a:off x="5116945" y="2957945"/>
            <a:ext cx="69226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>
                <a:latin typeface="Arial"/>
                <a:cs typeface="Arial"/>
              </a:rPr>
              <a:t>Forte presença em diversas nações, sendo sua maior sede em São José dos Campos (SP).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151D60D-C718-628A-7B31-99864533AAD1}"/>
              </a:ext>
            </a:extLst>
          </p:cNvPr>
          <p:cNvSpPr txBox="1"/>
          <p:nvPr/>
        </p:nvSpPr>
        <p:spPr>
          <a:xfrm>
            <a:off x="5116945" y="3604490"/>
            <a:ext cx="692265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>
                <a:latin typeface="Arial"/>
                <a:cs typeface="Arial"/>
              </a:rPr>
              <a:t>Sua relevância vai além do Brasil, onde 90% da sua produção é exportada, principalmente para os Estados Unidos e para a Europa.</a:t>
            </a:r>
          </a:p>
        </p:txBody>
      </p:sp>
      <p:pic>
        <p:nvPicPr>
          <p:cNvPr id="11" name="Imagem 10" descr="Embraer São José dos Campos registra aumento de mais de 25% na carteira de  pedidos. Números são os melhores em 9 anos | VALE 360 NEWS - NOTÍCIAS DO  VALE DO PARAÍBA E LITORAL NORTE">
            <a:extLst>
              <a:ext uri="{FF2B5EF4-FFF2-40B4-BE49-F238E27FC236}">
                <a16:creationId xmlns:a16="http://schemas.microsoft.com/office/drawing/2014/main" id="{D1F86C96-C5BA-37CA-BEFF-206C51F21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819" y="2079268"/>
            <a:ext cx="3971636" cy="32421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Imagem 11" descr="Embraer Logo – PNG e Vetor – Download de Logo">
            <a:extLst>
              <a:ext uri="{FF2B5EF4-FFF2-40B4-BE49-F238E27FC236}">
                <a16:creationId xmlns:a16="http://schemas.microsoft.com/office/drawing/2014/main" id="{280A93FE-1573-7891-6D31-9F35A4A96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8672" y="5682672"/>
            <a:ext cx="1681019" cy="169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94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14D47-B366-F511-ABA4-FF941922D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18F44-C289-CBF0-916C-312011AF0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50" y="688849"/>
            <a:ext cx="5008230" cy="835152"/>
          </a:xfrm>
        </p:spPr>
        <p:txBody>
          <a:bodyPr>
            <a:noAutofit/>
          </a:bodyPr>
          <a:lstStyle/>
          <a:p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Apresentação da Empresa</a:t>
            </a: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92375EC5-07D1-5C90-59A5-8AB1DA94BF54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87068E6D-B259-CEF6-38B2-8D7B71457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 descr="Interface gráfica do usuário, Aplicativo, Ícone&#10;&#10;O conteúdo gerado por IA pode estar incorreto.">
            <a:extLst>
              <a:ext uri="{FF2B5EF4-FFF2-40B4-BE49-F238E27FC236}">
                <a16:creationId xmlns:a16="http://schemas.microsoft.com/office/drawing/2014/main" id="{4DF4BC2D-7086-F2AB-A6C1-95053C7177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35" y="5680061"/>
            <a:ext cx="1057882" cy="105788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00D7655-FCE1-F151-D5DB-E66F9AE3F4BD}"/>
              </a:ext>
            </a:extLst>
          </p:cNvPr>
          <p:cNvSpPr txBox="1"/>
          <p:nvPr/>
        </p:nvSpPr>
        <p:spPr>
          <a:xfrm>
            <a:off x="5116945" y="1711036"/>
            <a:ext cx="692265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>
                <a:latin typeface="Arial"/>
                <a:cs typeface="Arial"/>
              </a:rPr>
              <a:t>Como suas principais concorrentes, temos a Boeing e a Airbus, as gigantes do setor aeroespacial tem sua força concentrada na fabricação de aviões de grande porte voltados para voos comerciais internacionais.</a:t>
            </a:r>
            <a:endParaRPr lang="pt-BR">
              <a:latin typeface="Arial"/>
            </a:endParaRPr>
          </a:p>
        </p:txBody>
      </p:sp>
      <p:pic>
        <p:nvPicPr>
          <p:cNvPr id="3" name="Imagem 2" descr="E195-E2 ou A220? Embraer e Airbus abrem o jogo sobre disputa">
            <a:extLst>
              <a:ext uri="{FF2B5EF4-FFF2-40B4-BE49-F238E27FC236}">
                <a16:creationId xmlns:a16="http://schemas.microsoft.com/office/drawing/2014/main" id="{F0CC2477-6B40-8EB6-7795-901E268E6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70" y="2043545"/>
            <a:ext cx="4244837" cy="26228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3A6CFC7-9F27-7793-A944-58423F2D57F9}"/>
              </a:ext>
            </a:extLst>
          </p:cNvPr>
          <p:cNvSpPr txBox="1"/>
          <p:nvPr/>
        </p:nvSpPr>
        <p:spPr>
          <a:xfrm>
            <a:off x="5116945" y="3047297"/>
            <a:ext cx="692265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>
                <a:latin typeface="Arial"/>
                <a:cs typeface="Arial"/>
              </a:rPr>
              <a:t>No Brasil, apenas a Azul, uma das 3 maiores companhias aéreas do país, utiliza aviões da Embraer para operar voos regionais no Brasil e na América do Sul.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D0A9151-EF23-18D6-6185-BAE0EA9BD428}"/>
              </a:ext>
            </a:extLst>
          </p:cNvPr>
          <p:cNvSpPr txBox="1"/>
          <p:nvPr/>
        </p:nvSpPr>
        <p:spPr>
          <a:xfrm>
            <a:off x="5127988" y="4228949"/>
            <a:ext cx="692265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>
                <a:latin typeface="Arial"/>
                <a:cs typeface="Arial"/>
              </a:rPr>
              <a:t>Mundialmente, os principais clientes da Embraer são a Republic Airways e a Skywest, seus pedidos ultrapassam 100 aeronaves encomendadas.</a:t>
            </a:r>
          </a:p>
        </p:txBody>
      </p:sp>
      <p:pic>
        <p:nvPicPr>
          <p:cNvPr id="5" name="Imagem 4" descr="Embraer Logo – PNG e Vetor – Download de Logo">
            <a:extLst>
              <a:ext uri="{FF2B5EF4-FFF2-40B4-BE49-F238E27FC236}">
                <a16:creationId xmlns:a16="http://schemas.microsoft.com/office/drawing/2014/main" id="{38155FA8-1303-05C2-3B72-86B56A476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4338" y="5550137"/>
            <a:ext cx="1761837" cy="171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925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E0105-033D-4BB0-78DA-73701DEE6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B5D998-5F0F-D184-E4D1-A1567DE16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50" y="688849"/>
            <a:ext cx="5023470" cy="835152"/>
          </a:xfrm>
        </p:spPr>
        <p:txBody>
          <a:bodyPr>
            <a:noAutofit/>
          </a:bodyPr>
          <a:lstStyle/>
          <a:p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Missão</a:t>
            </a: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111D38A7-A293-1202-8038-2ADD131B1813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6D495B20-9363-6B6E-5DD2-E7917C031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5B9A516C-A8CF-4DF3-576A-11CF566464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49" y="5651757"/>
            <a:ext cx="1057883" cy="1057883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31E2D227-DE8B-DB1B-3BC9-B8B6A8A2EF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55800" y="533541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0E29BED-7B1B-8ADE-F820-831C86EE7535}"/>
              </a:ext>
            </a:extLst>
          </p:cNvPr>
          <p:cNvSpPr txBox="1"/>
          <p:nvPr/>
        </p:nvSpPr>
        <p:spPr>
          <a:xfrm>
            <a:off x="5537300" y="2256887"/>
            <a:ext cx="5621131" cy="27699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2500">
                <a:ea typeface="+mn-lt"/>
                <a:cs typeface="+mn-lt"/>
              </a:rPr>
              <a:t>A missão da Embraer é desenvolver soluções inovadoras na aviação e na indústria aeroespacial, conectando pessoas e superando desafios com tecnologia, sustentabilidade e excelência.</a:t>
            </a:r>
          </a:p>
          <a:p>
            <a:pPr marL="285750" indent="-285750">
              <a:buFont typeface="Arial"/>
              <a:buChar char="•"/>
            </a:pPr>
            <a:endParaRPr lang="pt-BR" sz="2400">
              <a:latin typeface="Bierstadt"/>
              <a:ea typeface="Calibri"/>
              <a:cs typeface="Calibri"/>
            </a:endParaRPr>
          </a:p>
        </p:txBody>
      </p:sp>
      <p:pic>
        <p:nvPicPr>
          <p:cNvPr id="3" name="Imagem 2" descr="Missão objetivos e filosofia do negócio visão da empresa engajamento  lealdade e satisfação | Vetor Premium">
            <a:extLst>
              <a:ext uri="{FF2B5EF4-FFF2-40B4-BE49-F238E27FC236}">
                <a16:creationId xmlns:a16="http://schemas.microsoft.com/office/drawing/2014/main" id="{8E67BDA0-FA88-FD7C-A908-516B7DDDB6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17" t="5759" r="1933" b="6130"/>
          <a:stretch>
            <a:fillRect/>
          </a:stretch>
        </p:blipFill>
        <p:spPr>
          <a:xfrm>
            <a:off x="1215180" y="2239603"/>
            <a:ext cx="4028874" cy="2604476"/>
          </a:xfrm>
          <a:prstGeom prst="rect">
            <a:avLst/>
          </a:prstGeom>
        </p:spPr>
      </p:pic>
      <p:pic>
        <p:nvPicPr>
          <p:cNvPr id="7" name="Imagem 6" descr="Embraer Logo – PNG e Vetor – Download de Logo">
            <a:extLst>
              <a:ext uri="{FF2B5EF4-FFF2-40B4-BE49-F238E27FC236}">
                <a16:creationId xmlns:a16="http://schemas.microsoft.com/office/drawing/2014/main" id="{96158E58-4848-EF7F-F600-094E7510D8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4098" y="5491620"/>
            <a:ext cx="1949885" cy="194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049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09A2D-1B4F-A592-A5C1-4A396E23A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3F8504-BAC3-B5E1-0C08-BF236A122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50" y="688849"/>
            <a:ext cx="4992990" cy="835152"/>
          </a:xfrm>
        </p:spPr>
        <p:txBody>
          <a:bodyPr>
            <a:noAutofit/>
          </a:bodyPr>
          <a:lstStyle/>
          <a:p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Visão</a:t>
            </a: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2871B767-94F0-8DC6-9E74-A3E190807200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FE9974A1-F3FF-8E39-BFED-72B7BB83E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3F4B407D-1530-8A8C-E3AC-29FC5019EE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39" y="5658456"/>
            <a:ext cx="1021390" cy="1021390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450832A5-0EFF-95AD-56E8-6F0287E48A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31720" y="565845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64C6AE-F910-CBB2-7685-F0F458E78A90}"/>
              </a:ext>
            </a:extLst>
          </p:cNvPr>
          <p:cNvSpPr txBox="1"/>
          <p:nvPr/>
        </p:nvSpPr>
        <p:spPr>
          <a:xfrm>
            <a:off x="1954695" y="1358348"/>
            <a:ext cx="9144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EDB49D2-431C-6098-E4D9-54B361D07ADC}"/>
              </a:ext>
            </a:extLst>
          </p:cNvPr>
          <p:cNvSpPr txBox="1"/>
          <p:nvPr/>
        </p:nvSpPr>
        <p:spPr>
          <a:xfrm>
            <a:off x="4930913" y="1717260"/>
            <a:ext cx="7261087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pt-BR" sz="2500" b="1">
                <a:ea typeface="+mn-lt"/>
                <a:cs typeface="+mn-lt"/>
              </a:rPr>
              <a:t>Liderança em inovação aeroespacial</a:t>
            </a:r>
            <a:r>
              <a:rPr lang="pt-BR" sz="2500">
                <a:ea typeface="+mn-lt"/>
                <a:cs typeface="+mn-lt"/>
              </a:rPr>
              <a:t>: Desenvolver tecnologias avançadas que transformem a mobilidade aérea.</a:t>
            </a:r>
          </a:p>
          <a:p>
            <a:pPr>
              <a:buFont typeface="Arial"/>
              <a:buChar char="•"/>
            </a:pPr>
            <a:r>
              <a:rPr lang="pt-BR" sz="2500" b="1">
                <a:ea typeface="+mn-lt"/>
                <a:cs typeface="+mn-lt"/>
              </a:rPr>
              <a:t>Compromisso com a sustentabilidade</a:t>
            </a:r>
            <a:r>
              <a:rPr lang="pt-BR" sz="2500">
                <a:ea typeface="+mn-lt"/>
                <a:cs typeface="+mn-lt"/>
              </a:rPr>
              <a:t>: Criar soluções que reduzam o impacto ambiental da aviação.</a:t>
            </a:r>
          </a:p>
          <a:p>
            <a:pPr>
              <a:buFont typeface="Arial"/>
              <a:buChar char="•"/>
            </a:pPr>
            <a:r>
              <a:rPr lang="pt-BR" sz="2500" b="1">
                <a:ea typeface="+mn-lt"/>
                <a:cs typeface="+mn-lt"/>
              </a:rPr>
              <a:t>Presença global e relevância estratégica</a:t>
            </a:r>
            <a:r>
              <a:rPr lang="pt-BR" sz="2500">
                <a:ea typeface="+mn-lt"/>
                <a:cs typeface="+mn-lt"/>
              </a:rPr>
              <a:t>: Atuar como protagonista no mercado de aviação mundial, com foco em excelência e competitividade.</a:t>
            </a:r>
          </a:p>
          <a:p>
            <a:pPr marL="285750" indent="-285750">
              <a:buFont typeface="Arial"/>
              <a:buChar char="•"/>
            </a:pPr>
            <a:endParaRPr lang="pt-BR" sz="2000"/>
          </a:p>
        </p:txBody>
      </p:sp>
      <p:pic>
        <p:nvPicPr>
          <p:cNvPr id="3" name="Imagem 2" descr="negócios de liderança, visão de negócios para ver oportunidade ou  estratégia, descoberta ou visionário para olhar para frente no conceito de  negócios. ilustração png 14432444 PNG">
            <a:extLst>
              <a:ext uri="{FF2B5EF4-FFF2-40B4-BE49-F238E27FC236}">
                <a16:creationId xmlns:a16="http://schemas.microsoft.com/office/drawing/2014/main" id="{FB9E9AC0-320A-CC09-18C9-D88B046E9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2324" y="1722783"/>
            <a:ext cx="2151960" cy="3578087"/>
          </a:xfrm>
          <a:prstGeom prst="rect">
            <a:avLst/>
          </a:prstGeom>
        </p:spPr>
      </p:pic>
      <p:pic>
        <p:nvPicPr>
          <p:cNvPr id="11" name="Imagem 10" descr="Embraer Logo – PNG e Vetor – Download de Logo">
            <a:extLst>
              <a:ext uri="{FF2B5EF4-FFF2-40B4-BE49-F238E27FC236}">
                <a16:creationId xmlns:a16="http://schemas.microsoft.com/office/drawing/2014/main" id="{2FE073EE-C29C-B827-5F6F-919BB39D1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8482" y="5449866"/>
            <a:ext cx="1897694" cy="188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47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43CDE-E0CA-10D8-75CF-0946A663C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7F6AD-9642-61CC-9CF0-A6D0C3BF9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50" y="688849"/>
            <a:ext cx="5023470" cy="835152"/>
          </a:xfrm>
        </p:spPr>
        <p:txBody>
          <a:bodyPr>
            <a:noAutofit/>
          </a:bodyPr>
          <a:lstStyle/>
          <a:p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1740049B-1581-2C99-BA33-346842225EF1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953407F3-41D0-48FE-785A-9FE07D428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3DD7B5B3-5B97-07C4-3A4F-CBFEA20128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7" y="5527879"/>
            <a:ext cx="1117502" cy="1117502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AF07EBAF-1585-35B6-4B71-CBFEBCD061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19909" y="537547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BB3E8BF-9B59-AD84-FBB6-CC97A68B8D73}"/>
              </a:ext>
            </a:extLst>
          </p:cNvPr>
          <p:cNvSpPr txBox="1"/>
          <p:nvPr/>
        </p:nvSpPr>
        <p:spPr>
          <a:xfrm>
            <a:off x="5444435" y="1529519"/>
            <a:ext cx="6604000" cy="41242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pt-BR" sz="2200" b="1">
                <a:latin typeface="Arial"/>
                <a:ea typeface="+mn-lt"/>
                <a:cs typeface="+mn-lt"/>
              </a:rPr>
              <a:t>Inovação e Excelência Tecnológica</a:t>
            </a:r>
            <a:r>
              <a:rPr lang="pt-BR" sz="2200">
                <a:latin typeface="Arial"/>
                <a:ea typeface="+mn-lt"/>
                <a:cs typeface="+mn-lt"/>
              </a:rPr>
              <a:t>: Compromisso com o desenvolvimento de tecnologias aeroespaciais avançadas, refletido em investimentos significativos em pesquisa e desenvolvimento.</a:t>
            </a:r>
          </a:p>
          <a:p>
            <a:pPr>
              <a:buFont typeface="Arial"/>
              <a:buChar char="•"/>
            </a:pPr>
            <a:r>
              <a:rPr lang="pt-BR" sz="2200" b="1">
                <a:latin typeface="Arial"/>
                <a:ea typeface="+mn-lt"/>
                <a:cs typeface="+mn-lt"/>
              </a:rPr>
              <a:t>Sustentabilidade</a:t>
            </a:r>
            <a:r>
              <a:rPr lang="pt-BR" sz="2200">
                <a:latin typeface="Arial"/>
                <a:ea typeface="+mn-lt"/>
                <a:cs typeface="+mn-lt"/>
              </a:rPr>
              <a:t>: Busca pela redução das emissões de carbono e integração de combustíveis de aviação sustentáveis.</a:t>
            </a:r>
            <a:endParaRPr lang="pt-BR" sz="220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pt-BR" sz="2200" b="1">
                <a:latin typeface="Arial"/>
                <a:ea typeface="+mn-lt"/>
                <a:cs typeface="+mn-lt"/>
              </a:rPr>
              <a:t>Trabalho em Equipe</a:t>
            </a:r>
            <a:r>
              <a:rPr lang="pt-BR" sz="2200">
                <a:latin typeface="Arial"/>
                <a:ea typeface="+mn-lt"/>
                <a:cs typeface="+mn-lt"/>
              </a:rPr>
              <a:t>: Valorização da colaboração e diversidade, criando um ambiente inclusivo que promove o desenvolvimento coletivo.</a:t>
            </a:r>
            <a:endParaRPr lang="pt-BR" sz="220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pt-BR" sz="2000"/>
          </a:p>
        </p:txBody>
      </p:sp>
      <p:pic>
        <p:nvPicPr>
          <p:cNvPr id="7" name="Imagem 6" descr="estilo de ícone de valores da empresa 9356239 Vetor no Vecteezy">
            <a:extLst>
              <a:ext uri="{FF2B5EF4-FFF2-40B4-BE49-F238E27FC236}">
                <a16:creationId xmlns:a16="http://schemas.microsoft.com/office/drawing/2014/main" id="{D84513C2-92F6-0DA1-81C9-D5FCF2B34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943" y="2424496"/>
            <a:ext cx="3518114" cy="235771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9" name="Imagem 8" descr="Embraer Logo – PNG e Vetor – Download de Logo">
            <a:extLst>
              <a:ext uri="{FF2B5EF4-FFF2-40B4-BE49-F238E27FC236}">
                <a16:creationId xmlns:a16="http://schemas.microsoft.com/office/drawing/2014/main" id="{95BF3077-B992-F7A3-BE1E-9B6F7F38B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0127" y="5532582"/>
            <a:ext cx="1819564" cy="177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857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ângulo Retângulo 3">
            <a:extLst>
              <a:ext uri="{FF2B5EF4-FFF2-40B4-BE49-F238E27FC236}">
                <a16:creationId xmlns:a16="http://schemas.microsoft.com/office/drawing/2014/main" id="{116EC607-7B07-9A91-D369-2DEAE8471510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2D3B75-9A2E-48B2-B7B7-E89B0976A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15" y="627889"/>
            <a:ext cx="6914635" cy="1688591"/>
          </a:xfrm>
        </p:spPr>
        <p:txBody>
          <a:bodyPr>
            <a:normAutofit/>
          </a:bodyPr>
          <a:lstStyle/>
          <a:p>
            <a:r>
              <a:rPr lang="pt-BR" sz="4000"/>
              <a:t>Diferenciais competitivos</a:t>
            </a:r>
            <a:endParaRPr lang="pt-BR" sz="4000">
              <a:solidFill>
                <a:srgbClr val="FF00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F4E58FA-DBF3-4FC3-AE0A-3AD009B4704D}"/>
              </a:ext>
            </a:extLst>
          </p:cNvPr>
          <p:cNvSpPr txBox="1"/>
          <p:nvPr/>
        </p:nvSpPr>
        <p:spPr>
          <a:xfrm>
            <a:off x="470893" y="1465320"/>
            <a:ext cx="11246668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2200" b="1">
                <a:latin typeface="Arial"/>
                <a:cs typeface="Arial"/>
              </a:rPr>
              <a:t>Referência global em jatos regionais,</a:t>
            </a:r>
            <a:r>
              <a:rPr lang="pt-BR" sz="2200">
                <a:latin typeface="Arial"/>
                <a:cs typeface="Arial"/>
              </a:rPr>
              <a:t> destacados pela eficiência e tecnologia.</a:t>
            </a:r>
          </a:p>
          <a:p>
            <a:pPr marL="285750" indent="-285750">
              <a:buFont typeface="Arial"/>
              <a:buChar char="•"/>
            </a:pPr>
            <a:r>
              <a:rPr lang="pt-BR" sz="2200" b="1">
                <a:latin typeface="Arial"/>
                <a:cs typeface="Arial"/>
              </a:rPr>
              <a:t>Liderança na especialização em rotas curtas</a:t>
            </a:r>
            <a:r>
              <a:rPr lang="pt-BR" sz="2200">
                <a:latin typeface="Arial"/>
                <a:cs typeface="Arial"/>
              </a:rPr>
              <a:t>, diferente da Boeing e Airbus, que focam em viagens longas.</a:t>
            </a:r>
          </a:p>
          <a:p>
            <a:pPr marL="285750" indent="-285750">
              <a:buFont typeface="Arial"/>
              <a:buChar char="•"/>
            </a:pPr>
            <a:r>
              <a:rPr lang="pt-BR" sz="2200" b="1">
                <a:latin typeface="Arial"/>
                <a:cs typeface="Arial"/>
              </a:rPr>
              <a:t>Diversificação de produtos,</a:t>
            </a:r>
            <a:r>
              <a:rPr lang="pt-BR" sz="2200">
                <a:latin typeface="Arial"/>
                <a:cs typeface="Arial"/>
              </a:rPr>
              <a:t> com atuação na aviação comercial, agrícola, executiva e militar.</a:t>
            </a:r>
          </a:p>
          <a:p>
            <a:pPr marL="285750" indent="-285750">
              <a:buFont typeface="Arial"/>
              <a:buChar char="•"/>
            </a:pPr>
            <a:r>
              <a:rPr lang="pt-BR" sz="2200" b="1">
                <a:latin typeface="Arial"/>
                <a:cs typeface="Arial"/>
              </a:rPr>
              <a:t>Investimento em pesquisa e tecnologia,</a:t>
            </a:r>
            <a:r>
              <a:rPr lang="pt-BR" sz="2200">
                <a:latin typeface="Arial"/>
                <a:cs typeface="Arial"/>
              </a:rPr>
              <a:t> incluindo o desenvolvimento de aeronaves híbridas/elétricas; parceria com a Starlink para a internet a bordo; projeto Eve Air Mobility.</a:t>
            </a:r>
          </a:p>
          <a:p>
            <a:pPr marL="285750" indent="-285750">
              <a:buFont typeface="Arial"/>
              <a:buChar char="•"/>
            </a:pPr>
            <a:r>
              <a:rPr lang="pt-BR" sz="2200" b="1">
                <a:latin typeface="Arial"/>
                <a:cs typeface="Arial"/>
              </a:rPr>
              <a:t>Compromisso com a sustentabilidade, </a:t>
            </a:r>
            <a:r>
              <a:rPr lang="pt-BR" sz="2200">
                <a:latin typeface="Arial"/>
                <a:cs typeface="Arial"/>
              </a:rPr>
              <a:t>alinhado com à Agenda ODS e com uso de combustível sustentável (SAF).</a:t>
            </a:r>
          </a:p>
        </p:txBody>
      </p:sp>
      <p:sp>
        <p:nvSpPr>
          <p:cNvPr id="16386" name="AutoShape 2" descr="Competition - Free sports and competition icons"/>
          <p:cNvSpPr>
            <a:spLocks noChangeAspect="1" noChangeArrowheads="1"/>
          </p:cNvSpPr>
          <p:nvPr/>
        </p:nvSpPr>
        <p:spPr bwMode="auto">
          <a:xfrm>
            <a:off x="155575" y="-14446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388" name="AutoShape 4" descr="Competition - Free sports and competition icons"/>
          <p:cNvSpPr>
            <a:spLocks noChangeAspect="1" noChangeArrowheads="1"/>
          </p:cNvSpPr>
          <p:nvPr/>
        </p:nvSpPr>
        <p:spPr bwMode="auto">
          <a:xfrm>
            <a:off x="155575" y="-14446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6390" name="Picture 6" descr="Competition - Free sports and competition icon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577" y="5650526"/>
            <a:ext cx="1061305" cy="1061305"/>
          </a:xfrm>
          <a:prstGeom prst="rect">
            <a:avLst/>
          </a:prstGeom>
          <a:noFill/>
        </p:spPr>
      </p:pic>
      <p:pic>
        <p:nvPicPr>
          <p:cNvPr id="4" name="Imagem 3" descr="Embraer Logo – PNG e Vetor – Download de Logo">
            <a:extLst>
              <a:ext uri="{FF2B5EF4-FFF2-40B4-BE49-F238E27FC236}">
                <a16:creationId xmlns:a16="http://schemas.microsoft.com/office/drawing/2014/main" id="{0BDAB439-0464-C0C1-C617-F3BD056A9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043" y="5648195"/>
            <a:ext cx="1876817" cy="181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330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D89C4-053F-18E2-B15A-EBDA32C6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50" y="604709"/>
            <a:ext cx="6008990" cy="1534521"/>
          </a:xfrm>
        </p:spPr>
        <p:txBody>
          <a:bodyPr>
            <a:noAutofit/>
          </a:bodyPr>
          <a:lstStyle/>
          <a:p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Estrutura da Empresa</a:t>
            </a: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116EC607-7B07-9A91-D369-2DEAE8471510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E19D8493-9A9C-8D11-2058-7BC3906A4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E93E5A4C-D571-A96C-B49D-0F60DA41A1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7" y="5625640"/>
            <a:ext cx="1117502" cy="1117502"/>
          </a:xfrm>
          <a:prstGeom prst="rect">
            <a:avLst/>
          </a:prstGeom>
        </p:spPr>
      </p:pic>
      <p:pic>
        <p:nvPicPr>
          <p:cNvPr id="3" name="Imagem 2" descr="Picture 1817962669, Imagem">
            <a:extLst>
              <a:ext uri="{FF2B5EF4-FFF2-40B4-BE49-F238E27FC236}">
                <a16:creationId xmlns:a16="http://schemas.microsoft.com/office/drawing/2014/main" id="{E1984845-C0E3-1ED8-811A-E3F97ACD01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534"/>
          <a:stretch>
            <a:fillRect/>
          </a:stretch>
        </p:blipFill>
        <p:spPr>
          <a:xfrm>
            <a:off x="2147957" y="1275523"/>
            <a:ext cx="7885546" cy="522290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Imagem 4" descr="Embraer Logo – PNG e Vetor – Download de Logo">
            <a:extLst>
              <a:ext uri="{FF2B5EF4-FFF2-40B4-BE49-F238E27FC236}">
                <a16:creationId xmlns:a16="http://schemas.microsoft.com/office/drawing/2014/main" id="{AF0D9F58-F967-4683-1891-8F1067FF5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3127" y="5521037"/>
            <a:ext cx="1946564" cy="194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015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9C16D-6BDE-D9DB-87EF-897A7234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238B42C8-9245-F801-C011-5FF41E0CA8F1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8FC5E043-AA71-5295-71C9-99D8C84AA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1FDCDAB8-5EEB-F243-2830-2C4D974D35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7" y="5625640"/>
            <a:ext cx="1117502" cy="1117502"/>
          </a:xfrm>
          <a:prstGeom prst="rect">
            <a:avLst/>
          </a:prstGeom>
        </p:spPr>
      </p:pic>
      <p:pic>
        <p:nvPicPr>
          <p:cNvPr id="5" name="Imagem 4" descr="Perfil Institucional – Embraer Relatório Anual 2016">
            <a:extLst>
              <a:ext uri="{FF2B5EF4-FFF2-40B4-BE49-F238E27FC236}">
                <a16:creationId xmlns:a16="http://schemas.microsoft.com/office/drawing/2014/main" id="{18ED5942-FCFB-1BC8-4449-8E76FAF45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580" y="1715215"/>
            <a:ext cx="7421672" cy="389951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Imagem 7" descr="Embraer Logo – PNG e Vetor – Download de Logo">
            <a:extLst>
              <a:ext uri="{FF2B5EF4-FFF2-40B4-BE49-F238E27FC236}">
                <a16:creationId xmlns:a16="http://schemas.microsoft.com/office/drawing/2014/main" id="{062C995E-1100-C433-3AD5-B753BED38D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6946" y="5497946"/>
            <a:ext cx="1992746" cy="213129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0065536-3818-992D-7042-9D016B03C57C}"/>
              </a:ext>
            </a:extLst>
          </p:cNvPr>
          <p:cNvSpPr txBox="1">
            <a:spLocks/>
          </p:cNvSpPr>
          <p:nvPr/>
        </p:nvSpPr>
        <p:spPr>
          <a:xfrm>
            <a:off x="508650" y="604709"/>
            <a:ext cx="6008990" cy="15345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1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Estrutura da Empresa</a:t>
            </a: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122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C80F7-0D3C-9F3A-BC69-511ECBD6E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035ED7-CDA5-C07D-138B-75F168CA8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50" y="631121"/>
            <a:ext cx="8325470" cy="1311287"/>
          </a:xfrm>
        </p:spPr>
        <p:txBody>
          <a:bodyPr>
            <a:normAutofit/>
          </a:bodyPr>
          <a:lstStyle/>
          <a:p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Áreas Estratégicas da Empresa</a:t>
            </a: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C7ED479B-9C75-C6A2-7C93-E4C4EE6EC975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31E39876-293C-8BF0-5EB1-8F16F3326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DACC9C2-2DE8-415C-AF80-92DE2EDD2C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7" y="5610400"/>
            <a:ext cx="1117502" cy="1117502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A1132A4C-4452-A9B2-84DD-99C1EA78EAF3}"/>
              </a:ext>
            </a:extLst>
          </p:cNvPr>
          <p:cNvSpPr>
            <a:spLocks noGrp="1"/>
          </p:cNvSpPr>
          <p:nvPr/>
        </p:nvSpPr>
        <p:spPr>
          <a:xfrm>
            <a:off x="512503" y="1302126"/>
            <a:ext cx="11311096" cy="41005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500" b="1">
                <a:latin typeface="Arial"/>
                <a:ea typeface="+mn-lt"/>
                <a:cs typeface="+mn-lt"/>
              </a:rPr>
              <a:t>Conselho de Administração e Marketing/Comitê Estratégico</a:t>
            </a:r>
            <a:br>
              <a:rPr lang="pt-BR" sz="1500" b="1">
                <a:latin typeface="Arial"/>
                <a:ea typeface="+mn-lt"/>
                <a:cs typeface="+mn-lt"/>
              </a:rPr>
            </a:br>
            <a:r>
              <a:rPr lang="pt-BR" sz="1500">
                <a:latin typeface="Arial"/>
                <a:ea typeface="+mn-lt"/>
                <a:cs typeface="+mn-lt"/>
              </a:rPr>
              <a:t>O Conselho de Administração é o órgão máximo de governança da Embraer, composto por membros independentes, responsável por definir as diretrizes estratégicas da empresa e supervisionar a gestão executiva.</a:t>
            </a:r>
            <a:br>
              <a:rPr lang="pt-BR" sz="1500">
                <a:latin typeface="Arial"/>
                <a:ea typeface="+mn-lt"/>
                <a:cs typeface="+mn-lt"/>
              </a:rPr>
            </a:br>
            <a:br>
              <a:rPr lang="pt-BR" sz="1500">
                <a:latin typeface="Arial"/>
                <a:ea typeface="+mn-lt"/>
                <a:cs typeface="+mn-lt"/>
              </a:rPr>
            </a:br>
            <a:r>
              <a:rPr lang="pt-BR" sz="1500" b="1">
                <a:latin typeface="Arial"/>
                <a:ea typeface="+mn-lt"/>
                <a:cs typeface="+mn-lt"/>
              </a:rPr>
              <a:t>Pesquisa e Desenvolvimento</a:t>
            </a:r>
            <a:br>
              <a:rPr lang="pt-BR" sz="1500" b="1">
                <a:latin typeface="Arial"/>
                <a:ea typeface="+mn-lt"/>
                <a:cs typeface="+mn-lt"/>
              </a:rPr>
            </a:br>
            <a:r>
              <a:rPr lang="pt-BR" sz="1500">
                <a:latin typeface="Arial"/>
                <a:ea typeface="+mn-lt"/>
                <a:cs typeface="+mn-lt"/>
              </a:rPr>
              <a:t>A Embraer atua em diversos segmentos estratégicos, cada um com foco específico:</a:t>
            </a:r>
            <a:endParaRPr lang="pt-BR" sz="1500">
              <a:latin typeface="Arial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BR" sz="1500" b="1">
                <a:latin typeface="Arial"/>
                <a:ea typeface="+mn-lt"/>
                <a:cs typeface="+mn-lt"/>
              </a:rPr>
              <a:t>Aviação Comercial</a:t>
            </a:r>
            <a:r>
              <a:rPr lang="pt-BR" sz="1500">
                <a:latin typeface="Arial"/>
                <a:ea typeface="+mn-lt"/>
                <a:cs typeface="+mn-lt"/>
              </a:rPr>
              <a:t>: Desenvolvimento e comercialização de aeronaves para companhias aéreas.</a:t>
            </a:r>
          </a:p>
          <a:p>
            <a:pPr marL="285750" indent="-285750">
              <a:buFont typeface="Arial"/>
              <a:buChar char="•"/>
            </a:pPr>
            <a:r>
              <a:rPr lang="pt-BR" sz="1500" b="1">
                <a:latin typeface="Arial"/>
                <a:ea typeface="+mn-lt"/>
                <a:cs typeface="+mn-lt"/>
              </a:rPr>
              <a:t>Aviação Executiva</a:t>
            </a:r>
            <a:r>
              <a:rPr lang="pt-BR" sz="1500">
                <a:latin typeface="Arial"/>
                <a:ea typeface="+mn-lt"/>
                <a:cs typeface="+mn-lt"/>
              </a:rPr>
              <a:t>: Fabricação de jatos executivos para o mercado corporativo e de lazer.</a:t>
            </a:r>
          </a:p>
          <a:p>
            <a:pPr marL="285750" indent="-285750">
              <a:buFont typeface="Arial"/>
              <a:buChar char="•"/>
            </a:pPr>
            <a:r>
              <a:rPr lang="pt-BR" sz="1500" b="1">
                <a:latin typeface="Arial"/>
                <a:ea typeface="+mn-lt"/>
                <a:cs typeface="+mn-lt"/>
              </a:rPr>
              <a:t>Defesa e Segurança</a:t>
            </a:r>
            <a:r>
              <a:rPr lang="pt-BR" sz="1500">
                <a:latin typeface="Arial"/>
                <a:ea typeface="+mn-lt"/>
                <a:cs typeface="+mn-lt"/>
              </a:rPr>
              <a:t>: Produção de aeronaves e sistemas para aplicações militares e de segurança.</a:t>
            </a:r>
            <a:br>
              <a:rPr lang="pt-BR" sz="1500">
                <a:latin typeface="Arial"/>
                <a:ea typeface="+mn-lt"/>
                <a:cs typeface="+mn-lt"/>
              </a:rPr>
            </a:br>
            <a:endParaRPr lang="pt-BR" sz="1500">
              <a:latin typeface="Arial"/>
              <a:ea typeface="+mn-lt"/>
              <a:cs typeface="+mn-lt"/>
            </a:endParaRPr>
          </a:p>
          <a:p>
            <a:r>
              <a:rPr lang="pt-BR" sz="1500" b="1">
                <a:latin typeface="Arial"/>
                <a:ea typeface="+mn-lt"/>
                <a:cs typeface="+mn-lt"/>
              </a:rPr>
              <a:t>ESG e Comunicação</a:t>
            </a:r>
            <a:br>
              <a:rPr lang="pt-BR" sz="1500" b="1">
                <a:latin typeface="Arial"/>
                <a:ea typeface="+mn-lt"/>
                <a:cs typeface="+mn-lt"/>
              </a:rPr>
            </a:br>
            <a:r>
              <a:rPr lang="pt-BR" sz="1500">
                <a:latin typeface="Arial"/>
                <a:ea typeface="+mn-lt"/>
                <a:cs typeface="+mn-lt"/>
              </a:rPr>
              <a:t>Gestão de recursos humanos, iniciativas de sustentabilidade ambiental, social e de governança (ESG), além de comunicação corporativa. </a:t>
            </a:r>
            <a:endParaRPr lang="pt-BR" sz="1500">
              <a:latin typeface="Arial"/>
              <a:cs typeface="Arial"/>
            </a:endParaRPr>
          </a:p>
          <a:p>
            <a:endParaRPr lang="pt-BR" sz="1500" b="1"/>
          </a:p>
          <a:p>
            <a:pPr lvl="1"/>
            <a:endParaRPr lang="pt-BR" sz="1500"/>
          </a:p>
          <a:p>
            <a:endParaRPr lang="pt-BR" sz="1500"/>
          </a:p>
          <a:p>
            <a:endParaRPr lang="pt-BR" sz="1500"/>
          </a:p>
        </p:txBody>
      </p:sp>
      <p:pic>
        <p:nvPicPr>
          <p:cNvPr id="3" name="Imagem 2" descr="Embraer Logo – PNG e Vetor – Download de Logo">
            <a:extLst>
              <a:ext uri="{FF2B5EF4-FFF2-40B4-BE49-F238E27FC236}">
                <a16:creationId xmlns:a16="http://schemas.microsoft.com/office/drawing/2014/main" id="{4F4AAC55-D50F-FAAA-5BBF-41A520D7B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218" y="5382491"/>
            <a:ext cx="2177473" cy="215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650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D89C4-053F-18E2-B15A-EBDA32C6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130" y="729772"/>
            <a:ext cx="11389171" cy="881334"/>
          </a:xfrm>
        </p:spPr>
        <p:txBody>
          <a:bodyPr>
            <a:noAutofit/>
          </a:bodyPr>
          <a:lstStyle/>
          <a:p>
            <a:r>
              <a:rPr lang="pt-BR" sz="4000">
                <a:latin typeface="Arial"/>
                <a:cs typeface="Arial"/>
              </a:rPr>
              <a:t>Análise SWOT – Pontos fortes (Crescimento)</a:t>
            </a: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116EC607-7B07-9A91-D369-2DEAE8471510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E19D8493-9A9C-8D11-2058-7BC3906A4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2FD3FFF-B65B-8297-75FE-D7BE11360F1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546" y="5775960"/>
            <a:ext cx="957168" cy="957168"/>
          </a:xfrm>
          <a:prstGeom prst="rect">
            <a:avLst/>
          </a:prstGeom>
        </p:spPr>
      </p:pic>
      <p:pic>
        <p:nvPicPr>
          <p:cNvPr id="5" name="Imagem 4" descr="Tabela&#10;&#10;O conteúdo gerado por IA pode estar incorreto.">
            <a:extLst>
              <a:ext uri="{FF2B5EF4-FFF2-40B4-BE49-F238E27FC236}">
                <a16:creationId xmlns:a16="http://schemas.microsoft.com/office/drawing/2014/main" id="{9CD64AD3-50DD-7CAA-4341-A7ECA041E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602" y="1922693"/>
            <a:ext cx="5250283" cy="26476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58519F-7B19-2024-4F4B-99EEBBD277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4602" y="2432227"/>
            <a:ext cx="5250283" cy="26555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Imagem 2" descr="Embraer Logo – PNG e Vetor – Download de Logo">
            <a:extLst>
              <a:ext uri="{FF2B5EF4-FFF2-40B4-BE49-F238E27FC236}">
                <a16:creationId xmlns:a16="http://schemas.microsoft.com/office/drawing/2014/main" id="{B74F7F62-78CA-4CC8-67EE-8A8095F9BF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4662" y="5408112"/>
            <a:ext cx="2127338" cy="2158653"/>
          </a:xfrm>
          <a:prstGeom prst="rect">
            <a:avLst/>
          </a:prstGeom>
        </p:spPr>
      </p:pic>
      <p:pic>
        <p:nvPicPr>
          <p:cNvPr id="10" name="Imagem 9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7028FE0A-CA77-3932-A864-E37B816FD7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1619" y="1924907"/>
            <a:ext cx="2482858" cy="26513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agem 13" descr="Texto&#10;&#10;O conteúdo gerado por IA pode estar incorreto.">
            <a:extLst>
              <a:ext uri="{FF2B5EF4-FFF2-40B4-BE49-F238E27FC236}">
                <a16:creationId xmlns:a16="http://schemas.microsoft.com/office/drawing/2014/main" id="{80F9E521-82DC-5E12-2CEE-B5F75C2B15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0685" y="2437416"/>
            <a:ext cx="2483965" cy="26613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6890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537F1-BE66-FA06-22FC-9CBC1DD6A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20BA7-773C-0BC6-4F47-5190693E4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585" y="729773"/>
            <a:ext cx="11654716" cy="904424"/>
          </a:xfrm>
        </p:spPr>
        <p:txBody>
          <a:bodyPr>
            <a:noAutofit/>
          </a:bodyPr>
          <a:lstStyle/>
          <a:p>
            <a:r>
              <a:rPr lang="pt-BR" sz="4000">
                <a:latin typeface="Arial"/>
                <a:cs typeface="Arial"/>
              </a:rPr>
              <a:t>Análise SWOT – Pontos fortes (Enfrentamento)</a:t>
            </a:r>
            <a:endParaRPr 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CEF1A8BD-F888-9F41-D972-456DB13EF674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346E3079-3A18-11B6-5246-261E4579F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F74D864-2BA6-E959-425E-C7495C826B0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546" y="5775960"/>
            <a:ext cx="957168" cy="957168"/>
          </a:xfrm>
          <a:prstGeom prst="rect">
            <a:avLst/>
          </a:prstGeom>
        </p:spPr>
      </p:pic>
      <p:pic>
        <p:nvPicPr>
          <p:cNvPr id="11" name="Imagem 10" descr="Tabela&#10;&#10;O conteúdo gerado por IA pode estar incorreto.">
            <a:extLst>
              <a:ext uri="{FF2B5EF4-FFF2-40B4-BE49-F238E27FC236}">
                <a16:creationId xmlns:a16="http://schemas.microsoft.com/office/drawing/2014/main" id="{DE369E05-272E-6DAC-6293-974DB0CAA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400" y="1709787"/>
            <a:ext cx="5392140" cy="29817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Imagem 11" descr="Tabela&#10;&#10;O conteúdo gerado por IA pode estar incorreto.">
            <a:extLst>
              <a:ext uri="{FF2B5EF4-FFF2-40B4-BE49-F238E27FC236}">
                <a16:creationId xmlns:a16="http://schemas.microsoft.com/office/drawing/2014/main" id="{5CB5BFA5-BAF2-BDCF-68C9-A9AF9F676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4400" y="2235776"/>
            <a:ext cx="5392140" cy="28437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Imagem 2" descr="Embraer Logo – PNG e Vetor – Download de Logo">
            <a:extLst>
              <a:ext uri="{FF2B5EF4-FFF2-40B4-BE49-F238E27FC236}">
                <a16:creationId xmlns:a16="http://schemas.microsoft.com/office/drawing/2014/main" id="{F9886EAE-B1DC-97EC-B24E-F3321E8804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4662" y="5408112"/>
            <a:ext cx="2127338" cy="215865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88B6123-4F2E-30D5-3820-5485BE7A3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046" y="1710392"/>
            <a:ext cx="2649849" cy="31600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Imagem 17" descr="Texto&#10;&#10;O conteúdo gerado por IA pode estar incorreto.">
            <a:extLst>
              <a:ext uri="{FF2B5EF4-FFF2-40B4-BE49-F238E27FC236}">
                <a16:creationId xmlns:a16="http://schemas.microsoft.com/office/drawing/2014/main" id="{9C5C9062-112C-6CFA-44DD-014CD01CE5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046" y="2238509"/>
            <a:ext cx="2649849" cy="28476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5391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8D0D6-6572-CDD9-7DF8-AC4948F9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Tabela&#10;&#10;O conteúdo gerado por IA pode estar incorreto.">
            <a:extLst>
              <a:ext uri="{FF2B5EF4-FFF2-40B4-BE49-F238E27FC236}">
                <a16:creationId xmlns:a16="http://schemas.microsoft.com/office/drawing/2014/main" id="{14D6DB1B-A557-D42F-FFA1-4E4F5209D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247" y="2936427"/>
            <a:ext cx="2169934" cy="14821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Imagem 11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7950A1B0-E6F5-8B30-FCEE-DAC1B8A957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70" r="565" b="882"/>
          <a:stretch>
            <a:fillRect/>
          </a:stretch>
        </p:blipFill>
        <p:spPr>
          <a:xfrm>
            <a:off x="8276954" y="3123364"/>
            <a:ext cx="1121254" cy="148874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7830990-8F15-9A9B-B53C-BF850CDA2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130" y="729772"/>
            <a:ext cx="11482037" cy="812062"/>
          </a:xfrm>
        </p:spPr>
        <p:txBody>
          <a:bodyPr>
            <a:noAutofit/>
          </a:bodyPr>
          <a:lstStyle/>
          <a:p>
            <a:r>
              <a:rPr lang="pt-BR" sz="4000">
                <a:latin typeface="Arial"/>
                <a:cs typeface="Arial"/>
              </a:rPr>
              <a:t>Análise SWOT – Pontos fracos (Melhoria)</a:t>
            </a: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F51660E8-EF5A-28AE-7CE4-42E8DD60C0CD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4837B032-E4AA-D0F4-40C6-3FFFC5DDE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C6AC18F-7535-97C2-BD75-FB5441C10438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0546" y="5775960"/>
            <a:ext cx="957168" cy="957168"/>
          </a:xfrm>
          <a:prstGeom prst="rect">
            <a:avLst/>
          </a:prstGeom>
        </p:spPr>
      </p:pic>
      <p:pic>
        <p:nvPicPr>
          <p:cNvPr id="3" name="Imagem 2" descr="Tabela&#10;&#10;O conteúdo gerado por IA pode estar incorreto.">
            <a:extLst>
              <a:ext uri="{FF2B5EF4-FFF2-40B4-BE49-F238E27FC236}">
                <a16:creationId xmlns:a16="http://schemas.microsoft.com/office/drawing/2014/main" id="{56D9C3F8-5608-F9CA-501C-F6CD29D630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6768" y="1963353"/>
            <a:ext cx="5249250" cy="29631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agem 7" descr="Embraer Logo – PNG e Vetor – Download de Logo">
            <a:extLst>
              <a:ext uri="{FF2B5EF4-FFF2-40B4-BE49-F238E27FC236}">
                <a16:creationId xmlns:a16="http://schemas.microsoft.com/office/drawing/2014/main" id="{0688EA51-398B-E66F-D50D-63A8A6D7A9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8672" y="5682672"/>
            <a:ext cx="1681019" cy="1692564"/>
          </a:xfrm>
          <a:prstGeom prst="rect">
            <a:avLst/>
          </a:prstGeom>
        </p:spPr>
      </p:pic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4BA6607B-E841-64F5-0C22-2282C5415A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3721" y="1959752"/>
            <a:ext cx="2859303" cy="29589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4965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964B-65EF-A18B-279A-3D413CA6C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 descr="Texto&#10;&#10;O conteúdo gerado por IA pode estar incorreto.">
            <a:extLst>
              <a:ext uri="{FF2B5EF4-FFF2-40B4-BE49-F238E27FC236}">
                <a16:creationId xmlns:a16="http://schemas.microsoft.com/office/drawing/2014/main" id="{22423B2C-7269-3469-437F-8F4844526C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053" r="352" b="5080"/>
          <a:stretch>
            <a:fillRect/>
          </a:stretch>
        </p:blipFill>
        <p:spPr>
          <a:xfrm>
            <a:off x="8267889" y="3333118"/>
            <a:ext cx="939495" cy="844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Imagem 14" descr="Tabela&#10;&#10;O conteúdo gerado por IA pode estar incorreto.">
            <a:extLst>
              <a:ext uri="{FF2B5EF4-FFF2-40B4-BE49-F238E27FC236}">
                <a16:creationId xmlns:a16="http://schemas.microsoft.com/office/drawing/2014/main" id="{308F52EA-3B64-6F87-6FFC-8F275A539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065" y="3047089"/>
            <a:ext cx="1806619" cy="14108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Imagem 20" descr="Interface gráfica do usuário, Texto, Aplicativo, Carta&#10;&#10;O conteúdo gerado por IA pode estar incorreto.">
            <a:extLst>
              <a:ext uri="{FF2B5EF4-FFF2-40B4-BE49-F238E27FC236}">
                <a16:creationId xmlns:a16="http://schemas.microsoft.com/office/drawing/2014/main" id="{C8980644-9C16-378A-99CD-67C9AB45CA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998" b="4399"/>
          <a:stretch>
            <a:fillRect/>
          </a:stretch>
        </p:blipFill>
        <p:spPr>
          <a:xfrm>
            <a:off x="7348606" y="2544762"/>
            <a:ext cx="2768042" cy="271620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F6B46D6-8438-A287-4F7A-E0FEC460B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130" y="729772"/>
            <a:ext cx="9958037" cy="834148"/>
          </a:xfrm>
        </p:spPr>
        <p:txBody>
          <a:bodyPr>
            <a:noAutofit/>
          </a:bodyPr>
          <a:lstStyle/>
          <a:p>
            <a:r>
              <a:rPr lang="pt-BR" sz="4000">
                <a:latin typeface="Arial"/>
                <a:cs typeface="Arial"/>
              </a:rPr>
              <a:t>Análise SWOT – Pontos fracos (Defesa)</a:t>
            </a: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CD0340AD-CECA-2246-54AA-4DDD83625A23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AEF9108B-CD08-23CD-15DB-9D420852F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8E14285-423E-1510-1BA3-4A41DD9FAF0C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0546" y="5775960"/>
            <a:ext cx="957168" cy="957168"/>
          </a:xfrm>
          <a:prstGeom prst="rect">
            <a:avLst/>
          </a:prstGeom>
        </p:spPr>
      </p:pic>
      <p:pic>
        <p:nvPicPr>
          <p:cNvPr id="13" name="Imagem 12" descr="Tabela&#10;&#10;O conteúdo gerado por IA pode estar incorreto.">
            <a:extLst>
              <a:ext uri="{FF2B5EF4-FFF2-40B4-BE49-F238E27FC236}">
                <a16:creationId xmlns:a16="http://schemas.microsoft.com/office/drawing/2014/main" id="{EC177A8D-4E5E-296A-8D54-9BDD83EC87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9849" y="2531570"/>
            <a:ext cx="5167769" cy="27246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agem 13" descr="Forma, Retângulo&#10;&#10;O conteúdo gerado por IA pode estar incorreto.">
            <a:extLst>
              <a:ext uri="{FF2B5EF4-FFF2-40B4-BE49-F238E27FC236}">
                <a16:creationId xmlns:a16="http://schemas.microsoft.com/office/drawing/2014/main" id="{E95F4701-DE3F-D207-1B75-78E7083D2D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7066" y="1896201"/>
            <a:ext cx="5159199" cy="635982"/>
          </a:xfrm>
          <a:prstGeom prst="rect">
            <a:avLst/>
          </a:prstGeom>
        </p:spPr>
      </p:pic>
      <p:pic>
        <p:nvPicPr>
          <p:cNvPr id="8" name="Imagem 7" descr="Embraer Logo – PNG e Vetor – Download de Logo">
            <a:extLst>
              <a:ext uri="{FF2B5EF4-FFF2-40B4-BE49-F238E27FC236}">
                <a16:creationId xmlns:a16="http://schemas.microsoft.com/office/drawing/2014/main" id="{390B0426-4647-99DD-D154-07A7D99E76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8672" y="5682672"/>
            <a:ext cx="1681019" cy="1692564"/>
          </a:xfrm>
          <a:prstGeom prst="rect">
            <a:avLst/>
          </a:prstGeom>
        </p:spPr>
      </p:pic>
      <p:pic>
        <p:nvPicPr>
          <p:cNvPr id="17" name="Imagem 16" descr="Forma&#10;&#10;O conteúdo gerado por IA pode estar incorreto.">
            <a:extLst>
              <a:ext uri="{FF2B5EF4-FFF2-40B4-BE49-F238E27FC236}">
                <a16:creationId xmlns:a16="http://schemas.microsoft.com/office/drawing/2014/main" id="{AC431D79-4718-BDB3-6F8A-5460BB48A9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8044" y="1890011"/>
            <a:ext cx="2875315" cy="63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52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AC898-9302-ECE3-B72C-2B0086313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ângulo Retângulo 3">
            <a:extLst>
              <a:ext uri="{FF2B5EF4-FFF2-40B4-BE49-F238E27FC236}">
                <a16:creationId xmlns:a16="http://schemas.microsoft.com/office/drawing/2014/main" id="{026A0B2C-272A-3D65-821C-C70209CB1023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170" name="Picture 2" descr="Objective - Free business and finance icons">
            <a:extLst>
              <a:ext uri="{FF2B5EF4-FFF2-40B4-BE49-F238E27FC236}">
                <a16:creationId xmlns:a16="http://schemas.microsoft.com/office/drawing/2014/main" id="{ACF73B4B-14F0-9311-C0F2-57B76C2A2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2470" y="5770689"/>
            <a:ext cx="876299" cy="876299"/>
          </a:xfrm>
          <a:prstGeom prst="rect">
            <a:avLst/>
          </a:prstGeom>
          <a:noFill/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09798A4C-2B44-6DFB-8E0C-F6AFFD2ABD3F}"/>
              </a:ext>
            </a:extLst>
          </p:cNvPr>
          <p:cNvSpPr txBox="1">
            <a:spLocks/>
          </p:cNvSpPr>
          <p:nvPr/>
        </p:nvSpPr>
        <p:spPr>
          <a:xfrm>
            <a:off x="416748" y="589096"/>
            <a:ext cx="9510956" cy="7363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>
                <a:latin typeface="Arial"/>
                <a:cs typeface="Arial"/>
              </a:rPr>
              <a:t>Definição dos Objetivos estratégicos</a:t>
            </a:r>
          </a:p>
        </p:txBody>
      </p:sp>
      <p:pic>
        <p:nvPicPr>
          <p:cNvPr id="12" name="Picture 2" descr="Fatec Votorantim">
            <a:extLst>
              <a:ext uri="{FF2B5EF4-FFF2-40B4-BE49-F238E27FC236}">
                <a16:creationId xmlns:a16="http://schemas.microsoft.com/office/drawing/2014/main" id="{D9EEFB93-3B32-D371-9CF4-35A1D3FD7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m 13" descr="Embraer Logo – PNG e Vetor – Download de Logo">
            <a:extLst>
              <a:ext uri="{FF2B5EF4-FFF2-40B4-BE49-F238E27FC236}">
                <a16:creationId xmlns:a16="http://schemas.microsoft.com/office/drawing/2014/main" id="{CF6DD44F-C165-F76C-A4F3-AD6636536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8672" y="5682672"/>
            <a:ext cx="1681019" cy="1692564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999AC23-B2CE-CB3C-37F5-C0AD07F01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865746"/>
              </p:ext>
            </p:extLst>
          </p:nvPr>
        </p:nvGraphicFramePr>
        <p:xfrm>
          <a:off x="1072718" y="1717305"/>
          <a:ext cx="10312232" cy="83629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31654">
                  <a:extLst>
                    <a:ext uri="{9D8B030D-6E8A-4147-A177-3AD203B41FA5}">
                      <a16:colId xmlns:a16="http://schemas.microsoft.com/office/drawing/2014/main" val="1609589850"/>
                    </a:ext>
                  </a:extLst>
                </a:gridCol>
                <a:gridCol w="1231654">
                  <a:extLst>
                    <a:ext uri="{9D8B030D-6E8A-4147-A177-3AD203B41FA5}">
                      <a16:colId xmlns:a16="http://schemas.microsoft.com/office/drawing/2014/main" val="467532711"/>
                    </a:ext>
                  </a:extLst>
                </a:gridCol>
                <a:gridCol w="1231654">
                  <a:extLst>
                    <a:ext uri="{9D8B030D-6E8A-4147-A177-3AD203B41FA5}">
                      <a16:colId xmlns:a16="http://schemas.microsoft.com/office/drawing/2014/main" val="493923492"/>
                    </a:ext>
                  </a:extLst>
                </a:gridCol>
                <a:gridCol w="1231654">
                  <a:extLst>
                    <a:ext uri="{9D8B030D-6E8A-4147-A177-3AD203B41FA5}">
                      <a16:colId xmlns:a16="http://schemas.microsoft.com/office/drawing/2014/main" val="1494822704"/>
                    </a:ext>
                  </a:extLst>
                </a:gridCol>
                <a:gridCol w="1231654">
                  <a:extLst>
                    <a:ext uri="{9D8B030D-6E8A-4147-A177-3AD203B41FA5}">
                      <a16:colId xmlns:a16="http://schemas.microsoft.com/office/drawing/2014/main" val="2644320811"/>
                    </a:ext>
                  </a:extLst>
                </a:gridCol>
                <a:gridCol w="1231654">
                  <a:extLst>
                    <a:ext uri="{9D8B030D-6E8A-4147-A177-3AD203B41FA5}">
                      <a16:colId xmlns:a16="http://schemas.microsoft.com/office/drawing/2014/main" val="3572719415"/>
                    </a:ext>
                  </a:extLst>
                </a:gridCol>
                <a:gridCol w="1438204">
                  <a:extLst>
                    <a:ext uri="{9D8B030D-6E8A-4147-A177-3AD203B41FA5}">
                      <a16:colId xmlns:a16="http://schemas.microsoft.com/office/drawing/2014/main" val="3137143472"/>
                    </a:ext>
                  </a:extLst>
                </a:gridCol>
                <a:gridCol w="1484104">
                  <a:extLst>
                    <a:ext uri="{9D8B030D-6E8A-4147-A177-3AD203B41FA5}">
                      <a16:colId xmlns:a16="http://schemas.microsoft.com/office/drawing/2014/main" val="1307795710"/>
                    </a:ext>
                  </a:extLst>
                </a:gridCol>
              </a:tblGrid>
              <a:tr h="128968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5W2H - Plano de Ação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100">
                        <a:effectLst/>
                        <a:latin typeface="Arial"/>
                      </a:endParaRPr>
                    </a:p>
                  </a:txBody>
                  <a:tcPr marL="9525" marR="9525" marT="9525" anchor="b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256523"/>
                  </a:ext>
                </a:extLst>
              </a:tr>
              <a:tr h="1289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WHAT?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WHY?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WHO?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WHERE?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WHEN?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HOW?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HOW MUCH?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KPIs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486814"/>
                  </a:ext>
                </a:extLst>
              </a:tr>
              <a:tr h="1289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Objetivo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Motivo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Responsável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Lugar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Cronograma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Estratégias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Investimento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>
                          <a:effectLst/>
                          <a:latin typeface="Arial"/>
                        </a:rPr>
                        <a:t>Ferramentas de Controle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18689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484A5DE9-8B87-0342-4973-DA690E9F6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79580"/>
              </p:ext>
            </p:extLst>
          </p:nvPr>
        </p:nvGraphicFramePr>
        <p:xfrm>
          <a:off x="1080447" y="2570328"/>
          <a:ext cx="10308307" cy="25698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31185">
                  <a:extLst>
                    <a:ext uri="{9D8B030D-6E8A-4147-A177-3AD203B41FA5}">
                      <a16:colId xmlns:a16="http://schemas.microsoft.com/office/drawing/2014/main" val="3423384472"/>
                    </a:ext>
                  </a:extLst>
                </a:gridCol>
                <a:gridCol w="1231185">
                  <a:extLst>
                    <a:ext uri="{9D8B030D-6E8A-4147-A177-3AD203B41FA5}">
                      <a16:colId xmlns:a16="http://schemas.microsoft.com/office/drawing/2014/main" val="968644807"/>
                    </a:ext>
                  </a:extLst>
                </a:gridCol>
                <a:gridCol w="1231185">
                  <a:extLst>
                    <a:ext uri="{9D8B030D-6E8A-4147-A177-3AD203B41FA5}">
                      <a16:colId xmlns:a16="http://schemas.microsoft.com/office/drawing/2014/main" val="3202073670"/>
                    </a:ext>
                  </a:extLst>
                </a:gridCol>
                <a:gridCol w="1231185">
                  <a:extLst>
                    <a:ext uri="{9D8B030D-6E8A-4147-A177-3AD203B41FA5}">
                      <a16:colId xmlns:a16="http://schemas.microsoft.com/office/drawing/2014/main" val="3077157217"/>
                    </a:ext>
                  </a:extLst>
                </a:gridCol>
                <a:gridCol w="1231185">
                  <a:extLst>
                    <a:ext uri="{9D8B030D-6E8A-4147-A177-3AD203B41FA5}">
                      <a16:colId xmlns:a16="http://schemas.microsoft.com/office/drawing/2014/main" val="4176970592"/>
                    </a:ext>
                  </a:extLst>
                </a:gridCol>
                <a:gridCol w="1231185">
                  <a:extLst>
                    <a:ext uri="{9D8B030D-6E8A-4147-A177-3AD203B41FA5}">
                      <a16:colId xmlns:a16="http://schemas.microsoft.com/office/drawing/2014/main" val="3804766737"/>
                    </a:ext>
                  </a:extLst>
                </a:gridCol>
                <a:gridCol w="1437657">
                  <a:extLst>
                    <a:ext uri="{9D8B030D-6E8A-4147-A177-3AD203B41FA5}">
                      <a16:colId xmlns:a16="http://schemas.microsoft.com/office/drawing/2014/main" val="126807850"/>
                    </a:ext>
                  </a:extLst>
                </a:gridCol>
                <a:gridCol w="1483540">
                  <a:extLst>
                    <a:ext uri="{9D8B030D-6E8A-4147-A177-3AD203B41FA5}">
                      <a16:colId xmlns:a16="http://schemas.microsoft.com/office/drawing/2014/main" val="1128359669"/>
                    </a:ext>
                  </a:extLst>
                </a:gridCol>
              </a:tblGrid>
              <a:tr h="1311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  <a:latin typeface="Arial"/>
                        </a:rPr>
                        <a:t>Produzir 3 aeronaves militares para ocasiões específicas em ambientes de guerra ou catástrofes.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  <a:latin typeface="Arial"/>
                        </a:rPr>
                        <a:t>Ser uma opção mais econômica e acessível de acordo com os gastos militares da região.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  <a:latin typeface="Arial"/>
                        </a:rPr>
                        <a:t>Vendas e atendimento ao cliente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  <a:latin typeface="Arial"/>
                        </a:rPr>
                        <a:t>Fort Lauderdale, Flórida - Sede de vendas de aeronaves, treinamento de pilotos e mecânicos e suporte técnico.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  <a:latin typeface="Arial"/>
                        </a:rPr>
                        <a:t>2025 - 2030 (5 anos)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  <a:latin typeface="Arial"/>
                        </a:rPr>
                        <a:t>Adotando projetos que permitem configurar cada aeronave conforme a missão, seja transporte, evacuação, combate, vigilância ou resgate. Isso reduz custos ao evitar versões excessivamente completas para todos os cenários.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  <a:latin typeface="Arial"/>
                        </a:rPr>
                        <a:t>KC-390 Millenium - Entre US$ 140 - 160 milhões.</a:t>
                      </a:r>
                      <a:br>
                        <a:rPr lang="pt-BR" sz="1100">
                          <a:effectLst/>
                          <a:latin typeface="Arial"/>
                        </a:rPr>
                      </a:br>
                      <a:br>
                        <a:rPr lang="pt-BR" sz="1100">
                          <a:effectLst/>
                          <a:latin typeface="Arial"/>
                        </a:rPr>
                      </a:br>
                      <a:r>
                        <a:rPr lang="pt-BR" sz="1100">
                          <a:effectLst/>
                          <a:latin typeface="Arial"/>
                        </a:rPr>
                        <a:t>Valor estimado para cada aeronave: 50 US$ milhões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NPS (Net Promoter Score) das companhias aéreas que testaram ou compraram os modelos</a:t>
                      </a:r>
                      <a:br>
                        <a:rPr lang="pt-BR" sz="1100">
                          <a:effectLst/>
                          <a:latin typeface="Arial"/>
                        </a:rPr>
                      </a:br>
                      <a:br>
                        <a:rPr lang="pt-BR" sz="1100">
                          <a:effectLst/>
                          <a:latin typeface="Arial"/>
                        </a:rPr>
                      </a:br>
                      <a:r>
                        <a:rPr lang="pt-BR" sz="1100">
                          <a:effectLst/>
                          <a:latin typeface="Arial"/>
                        </a:rPr>
                        <a:t>Quantidade de testes bem-sucedidos (</a:t>
                      </a:r>
                      <a:r>
                        <a:rPr lang="pt-BR" sz="1100" err="1">
                          <a:effectLst/>
                          <a:latin typeface="Arial"/>
                        </a:rPr>
                        <a:t>ex</a:t>
                      </a:r>
                      <a:r>
                        <a:rPr lang="pt-BR" sz="1100">
                          <a:effectLst/>
                          <a:latin typeface="Arial"/>
                        </a:rPr>
                        <a:t>: resistência, pousos em ambientes extremos, evacuação, etc.)</a:t>
                      </a:r>
                      <a:br>
                        <a:rPr lang="pt-BR" sz="1100">
                          <a:effectLst/>
                          <a:latin typeface="Arial"/>
                        </a:rPr>
                      </a:br>
                      <a:br>
                        <a:rPr lang="pt-BR" sz="1100">
                          <a:effectLst/>
                          <a:latin typeface="Arial"/>
                        </a:rPr>
                      </a:br>
                      <a:r>
                        <a:rPr lang="pt-BR" sz="1100">
                          <a:effectLst/>
                          <a:latin typeface="Arial"/>
                        </a:rPr>
                        <a:t>Custo médio por unidade comparado ao orçamento estimado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394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392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2952BE-3253-D42F-3E40-ED8EC453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ângulo Retângulo 3">
            <a:extLst>
              <a:ext uri="{FF2B5EF4-FFF2-40B4-BE49-F238E27FC236}">
                <a16:creationId xmlns:a16="http://schemas.microsoft.com/office/drawing/2014/main" id="{9AB4DB67-BF2E-ABE1-C3FE-2C80E4F97A7F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170" name="Picture 2" descr="Objective - Free business and finance icons">
            <a:extLst>
              <a:ext uri="{FF2B5EF4-FFF2-40B4-BE49-F238E27FC236}">
                <a16:creationId xmlns:a16="http://schemas.microsoft.com/office/drawing/2014/main" id="{5C0CF796-A6B8-8782-1CA3-75AE07C5B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2470" y="5770689"/>
            <a:ext cx="876299" cy="876299"/>
          </a:xfrm>
          <a:prstGeom prst="rect">
            <a:avLst/>
          </a:prstGeom>
          <a:noFill/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F6BDFB3D-7B6E-C058-F7CD-05EE9FC6544D}"/>
              </a:ext>
            </a:extLst>
          </p:cNvPr>
          <p:cNvSpPr txBox="1">
            <a:spLocks/>
          </p:cNvSpPr>
          <p:nvPr/>
        </p:nvSpPr>
        <p:spPr>
          <a:xfrm>
            <a:off x="416748" y="589096"/>
            <a:ext cx="9326230" cy="14752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>
                <a:latin typeface="Arial"/>
                <a:cs typeface="Arial"/>
              </a:rPr>
              <a:t>Definição dos Objetivos estratégicos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65FCCD6-6AEF-B116-CE0E-48715D82C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886162"/>
              </p:ext>
            </p:extLst>
          </p:nvPr>
        </p:nvGraphicFramePr>
        <p:xfrm>
          <a:off x="1004454" y="1711393"/>
          <a:ext cx="10779464" cy="22345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3894">
                  <a:extLst>
                    <a:ext uri="{9D8B030D-6E8A-4147-A177-3AD203B41FA5}">
                      <a16:colId xmlns:a16="http://schemas.microsoft.com/office/drawing/2014/main" val="1922490083"/>
                    </a:ext>
                  </a:extLst>
                </a:gridCol>
                <a:gridCol w="1503894">
                  <a:extLst>
                    <a:ext uri="{9D8B030D-6E8A-4147-A177-3AD203B41FA5}">
                      <a16:colId xmlns:a16="http://schemas.microsoft.com/office/drawing/2014/main" val="2897481452"/>
                    </a:ext>
                  </a:extLst>
                </a:gridCol>
                <a:gridCol w="1503894">
                  <a:extLst>
                    <a:ext uri="{9D8B030D-6E8A-4147-A177-3AD203B41FA5}">
                      <a16:colId xmlns:a16="http://schemas.microsoft.com/office/drawing/2014/main" val="614630329"/>
                    </a:ext>
                  </a:extLst>
                </a:gridCol>
                <a:gridCol w="1503894">
                  <a:extLst>
                    <a:ext uri="{9D8B030D-6E8A-4147-A177-3AD203B41FA5}">
                      <a16:colId xmlns:a16="http://schemas.microsoft.com/office/drawing/2014/main" val="3791855101"/>
                    </a:ext>
                  </a:extLst>
                </a:gridCol>
                <a:gridCol w="1503894">
                  <a:extLst>
                    <a:ext uri="{9D8B030D-6E8A-4147-A177-3AD203B41FA5}">
                      <a16:colId xmlns:a16="http://schemas.microsoft.com/office/drawing/2014/main" val="1980771691"/>
                    </a:ext>
                  </a:extLst>
                </a:gridCol>
                <a:gridCol w="1503894">
                  <a:extLst>
                    <a:ext uri="{9D8B030D-6E8A-4147-A177-3AD203B41FA5}">
                      <a16:colId xmlns:a16="http://schemas.microsoft.com/office/drawing/2014/main" val="1392348855"/>
                    </a:ext>
                  </a:extLst>
                </a:gridCol>
                <a:gridCol w="1756100">
                  <a:extLst>
                    <a:ext uri="{9D8B030D-6E8A-4147-A177-3AD203B41FA5}">
                      <a16:colId xmlns:a16="http://schemas.microsoft.com/office/drawing/2014/main" val="525606844"/>
                    </a:ext>
                  </a:extLst>
                </a:gridCol>
              </a:tblGrid>
              <a:tr h="21199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</a:rPr>
                        <a:t>Produzir famílias de aeronaves capazes de suportar entre 140 - 170 passageiros.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</a:rPr>
                        <a:t>Maior suporte para os clientes e inovar os aviões da empresa.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</a:rPr>
                        <a:t>Pesquisa e Desenvolvimento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</a:rPr>
                        <a:t>São José dos Campos (SP) - Centro global de engenharia e tecnologia da empresa.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</a:rPr>
                        <a:t>2025 - 2032 (7 anos)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</a:rPr>
                        <a:t>Desenvolvendo uma nova plataforma de médio - grande porte com foco em eficiência operacional, conforto e baixo consumo. Isso envolve o uso de motores avançados, aerodinâmica otimizada e materiais leves para garantir competitividade frente aos grandes fabricantes.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</a:rPr>
                        <a:t>Airbus A380 (concorrente) - US$300 - US$400 milhões.</a:t>
                      </a:r>
                      <a:br>
                        <a:rPr lang="pt-BR" sz="1100">
                          <a:effectLst/>
                        </a:rPr>
                      </a:br>
                      <a:br>
                        <a:rPr lang="pt-BR" sz="1100">
                          <a:effectLst/>
                        </a:rPr>
                      </a:br>
                      <a:r>
                        <a:rPr lang="pt-BR" sz="1100">
                          <a:effectLst/>
                        </a:rPr>
                        <a:t>Valor unitário estimado: US$200 - US$ 250 milhões.</a:t>
                      </a:r>
                      <a:br>
                        <a:rPr lang="pt-BR" sz="1100">
                          <a:effectLst/>
                        </a:rPr>
                      </a:br>
                      <a:br>
                        <a:rPr lang="pt-BR" sz="1100">
                          <a:effectLst/>
                        </a:rPr>
                      </a:br>
                      <a:r>
                        <a:rPr lang="pt-BR" sz="1100">
                          <a:effectLst/>
                        </a:rPr>
                        <a:t>Valor estimado: US$400 - US$500 milhões.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012622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755923C2-F976-0898-350B-A6A37DECF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62892"/>
              </p:ext>
            </p:extLst>
          </p:nvPr>
        </p:nvGraphicFramePr>
        <p:xfrm>
          <a:off x="1004454" y="4021760"/>
          <a:ext cx="10779415" cy="19526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3887">
                  <a:extLst>
                    <a:ext uri="{9D8B030D-6E8A-4147-A177-3AD203B41FA5}">
                      <a16:colId xmlns:a16="http://schemas.microsoft.com/office/drawing/2014/main" val="1702935690"/>
                    </a:ext>
                  </a:extLst>
                </a:gridCol>
                <a:gridCol w="1503887">
                  <a:extLst>
                    <a:ext uri="{9D8B030D-6E8A-4147-A177-3AD203B41FA5}">
                      <a16:colId xmlns:a16="http://schemas.microsoft.com/office/drawing/2014/main" val="878482039"/>
                    </a:ext>
                  </a:extLst>
                </a:gridCol>
                <a:gridCol w="1503887">
                  <a:extLst>
                    <a:ext uri="{9D8B030D-6E8A-4147-A177-3AD203B41FA5}">
                      <a16:colId xmlns:a16="http://schemas.microsoft.com/office/drawing/2014/main" val="3545578439"/>
                    </a:ext>
                  </a:extLst>
                </a:gridCol>
                <a:gridCol w="1503887">
                  <a:extLst>
                    <a:ext uri="{9D8B030D-6E8A-4147-A177-3AD203B41FA5}">
                      <a16:colId xmlns:a16="http://schemas.microsoft.com/office/drawing/2014/main" val="3556382625"/>
                    </a:ext>
                  </a:extLst>
                </a:gridCol>
                <a:gridCol w="1503887">
                  <a:extLst>
                    <a:ext uri="{9D8B030D-6E8A-4147-A177-3AD203B41FA5}">
                      <a16:colId xmlns:a16="http://schemas.microsoft.com/office/drawing/2014/main" val="2690924543"/>
                    </a:ext>
                  </a:extLst>
                </a:gridCol>
                <a:gridCol w="1503887">
                  <a:extLst>
                    <a:ext uri="{9D8B030D-6E8A-4147-A177-3AD203B41FA5}">
                      <a16:colId xmlns:a16="http://schemas.microsoft.com/office/drawing/2014/main" val="243972686"/>
                    </a:ext>
                  </a:extLst>
                </a:gridCol>
                <a:gridCol w="1756093">
                  <a:extLst>
                    <a:ext uri="{9D8B030D-6E8A-4147-A177-3AD203B41FA5}">
                      <a16:colId xmlns:a16="http://schemas.microsoft.com/office/drawing/2014/main" val="2907739947"/>
                    </a:ext>
                  </a:extLst>
                </a:gridCol>
              </a:tblGrid>
              <a:tr h="19526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</a:rPr>
                        <a:t>Ampliar parcerias com a Base Industrial de Defesa e liderar a competitividade na área da aviação.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</a:rPr>
                        <a:t>Manter a liderança no comércio das aviações e conseguir mais eficiência e segurança na produção de aeronaves especiais.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</a:rPr>
                        <a:t>Conselho de Administração / Diretoria Executiva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</a:rPr>
                        <a:t>São José dos Campos (SP) - Responsável por definir as diretrizes estratégicas e supervisionar a gestão executiva da companhia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</a:rPr>
                        <a:t>2025 - 2028 (3 anos)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</a:rPr>
                        <a:t>Intensificando o diálogo e a colaboração com fornecedores, institutos de pesquisa e órgãos governamentais ligados à defesa. Investir em projetos conjuntos de inovação tecnológica e desenvolvimento de produtos estratégicos.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>
                          <a:effectLst/>
                        </a:rPr>
                        <a:t>Contrato FAB: Aproximadamente R$ 198 milhões</a:t>
                      </a:r>
                      <a:br>
                        <a:rPr lang="pt-BR" sz="1100">
                          <a:effectLst/>
                        </a:rPr>
                      </a:br>
                      <a:br>
                        <a:rPr lang="pt-BR" sz="1100">
                          <a:effectLst/>
                        </a:rPr>
                      </a:br>
                      <a:r>
                        <a:rPr lang="pt-BR" sz="1100">
                          <a:effectLst/>
                        </a:rPr>
                        <a:t>Valor estimado: R$190 - R$250 milhões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147834"/>
                  </a:ext>
                </a:extLst>
              </a:tr>
            </a:tbl>
          </a:graphicData>
        </a:graphic>
      </p:graphicFrame>
      <p:pic>
        <p:nvPicPr>
          <p:cNvPr id="12" name="Picture 2" descr="Fatec Votorantim">
            <a:extLst>
              <a:ext uri="{FF2B5EF4-FFF2-40B4-BE49-F238E27FC236}">
                <a16:creationId xmlns:a16="http://schemas.microsoft.com/office/drawing/2014/main" id="{8833DF54-2080-1B80-4ED3-A13471C1E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m 13" descr="Embraer Logo – PNG e Vetor – Download de Logo">
            <a:extLst>
              <a:ext uri="{FF2B5EF4-FFF2-40B4-BE49-F238E27FC236}">
                <a16:creationId xmlns:a16="http://schemas.microsoft.com/office/drawing/2014/main" id="{A61B22CB-0EAE-B2DA-9791-FAF57165C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8672" y="5682672"/>
            <a:ext cx="1681019" cy="169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83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D89C4-053F-18E2-B15A-EBDA32C6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50" y="711939"/>
            <a:ext cx="7096110" cy="812062"/>
          </a:xfrm>
        </p:spPr>
        <p:txBody>
          <a:bodyPr>
            <a:noAutofit/>
          </a:bodyPr>
          <a:lstStyle/>
          <a:p>
            <a:r>
              <a:rPr lang="pt-BR" sz="4000" err="1">
                <a:latin typeface="Arial" panose="020B0604020202020204" pitchFamily="34" charset="0"/>
                <a:cs typeface="Arial" panose="020B0604020202020204" pitchFamily="34" charset="0"/>
              </a:rPr>
              <a:t>Balanced</a:t>
            </a:r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4000" err="1">
                <a:latin typeface="Arial" panose="020B0604020202020204" pitchFamily="34" charset="0"/>
                <a:cs typeface="Arial" panose="020B0604020202020204" pitchFamily="34" charset="0"/>
              </a:rPr>
              <a:t>ScoreCard</a:t>
            </a:r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 (BSC)</a:t>
            </a: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116EC607-7B07-9A91-D369-2DEAE8471510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E19D8493-9A9C-8D11-2058-7BC3906A4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7EC884C-57B9-D3A9-B16A-212FB64E6FB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125" y="5709017"/>
            <a:ext cx="924757" cy="920268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9929D98E-7E99-7677-D91F-D682D521C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592357"/>
              </p:ext>
            </p:extLst>
          </p:nvPr>
        </p:nvGraphicFramePr>
        <p:xfrm>
          <a:off x="205618" y="991809"/>
          <a:ext cx="12340694" cy="45544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1194">
                  <a:extLst>
                    <a:ext uri="{9D8B030D-6E8A-4147-A177-3AD203B41FA5}">
                      <a16:colId xmlns:a16="http://schemas.microsoft.com/office/drawing/2014/main" val="1064739781"/>
                    </a:ext>
                  </a:extLst>
                </a:gridCol>
                <a:gridCol w="825868">
                  <a:extLst>
                    <a:ext uri="{9D8B030D-6E8A-4147-A177-3AD203B41FA5}">
                      <a16:colId xmlns:a16="http://schemas.microsoft.com/office/drawing/2014/main" val="2923664009"/>
                    </a:ext>
                  </a:extLst>
                </a:gridCol>
                <a:gridCol w="2647525">
                  <a:extLst>
                    <a:ext uri="{9D8B030D-6E8A-4147-A177-3AD203B41FA5}">
                      <a16:colId xmlns:a16="http://schemas.microsoft.com/office/drawing/2014/main" val="2305600799"/>
                    </a:ext>
                  </a:extLst>
                </a:gridCol>
                <a:gridCol w="2647525">
                  <a:extLst>
                    <a:ext uri="{9D8B030D-6E8A-4147-A177-3AD203B41FA5}">
                      <a16:colId xmlns:a16="http://schemas.microsoft.com/office/drawing/2014/main" val="252373239"/>
                    </a:ext>
                  </a:extLst>
                </a:gridCol>
                <a:gridCol w="2647525">
                  <a:extLst>
                    <a:ext uri="{9D8B030D-6E8A-4147-A177-3AD203B41FA5}">
                      <a16:colId xmlns:a16="http://schemas.microsoft.com/office/drawing/2014/main" val="2570154238"/>
                    </a:ext>
                  </a:extLst>
                </a:gridCol>
                <a:gridCol w="2647525">
                  <a:extLst>
                    <a:ext uri="{9D8B030D-6E8A-4147-A177-3AD203B41FA5}">
                      <a16:colId xmlns:a16="http://schemas.microsoft.com/office/drawing/2014/main" val="1419302905"/>
                    </a:ext>
                  </a:extLst>
                </a:gridCol>
                <a:gridCol w="583532">
                  <a:extLst>
                    <a:ext uri="{9D8B030D-6E8A-4147-A177-3AD203B41FA5}">
                      <a16:colId xmlns:a16="http://schemas.microsoft.com/office/drawing/2014/main" val="1382662073"/>
                    </a:ext>
                  </a:extLst>
                </a:gridCol>
              </a:tblGrid>
              <a:tr h="295514">
                <a:tc gridSpan="7">
                  <a:txBody>
                    <a:bodyPr/>
                    <a:lstStyle/>
                    <a:p>
                      <a:pPr algn="ctr" fontAlgn="ctr"/>
                      <a:endParaRPr lang="pt-BR" sz="1500" b="1" i="0" u="none" strike="noStrike">
                        <a:solidFill>
                          <a:srgbClr val="FFFFFF"/>
                        </a:solidFill>
                        <a:effectLst/>
                        <a:latin typeface="Bodoni MT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165312"/>
                  </a:ext>
                </a:extLst>
              </a:tr>
              <a:tr h="278131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736179"/>
                  </a:ext>
                </a:extLst>
              </a:tr>
              <a:tr h="260749">
                <a:tc>
                  <a:txBody>
                    <a:bodyPr/>
                    <a:lstStyle/>
                    <a:p>
                      <a:pPr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>
                          <a:solidFill>
                            <a:schemeClr val="tx1"/>
                          </a:solidFill>
                          <a:effectLst/>
                          <a:latin typeface="Bodoni MT"/>
                        </a:rPr>
                        <a:t>Criar 2 novas família de aeronaves para transporte aéreo regional e internacional até 2031 e 2035.</a:t>
                      </a:r>
                      <a:endParaRPr lang="pt-BR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927231"/>
                  </a:ext>
                </a:extLst>
              </a:tr>
              <a:tr h="469348">
                <a:tc>
                  <a:txBody>
                    <a:bodyPr/>
                    <a:lstStyle/>
                    <a:p>
                      <a:pPr fontAlgn="ctr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Perspectiva Financeira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Perspectiva de Processos Internos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Perspectiva de Aprendizagem e Crescimento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Perspectiva de Clientes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933835"/>
                  </a:ext>
                </a:extLst>
              </a:tr>
              <a:tr h="799629">
                <a:tc>
                  <a:txBody>
                    <a:bodyPr/>
                    <a:lstStyle/>
                    <a:p>
                      <a:pPr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Objetivo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Aumentar a receita e o </a:t>
                      </a:r>
                      <a:r>
                        <a:rPr lang="pt-BR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market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 </a:t>
                      </a:r>
                      <a:r>
                        <a:rPr lang="pt-BR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share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 global através da diversificação do portfólio.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Otimizar o processo de desenvolvimento e lançamento de novos produtos.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Fortalecer competências em tecnologias emergentes e sustentabilidade.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Atender às necessidades de companhias aéreas por aeronaves mais eficientes e sustentáveis.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860451"/>
                  </a:ext>
                </a:extLst>
              </a:tr>
              <a:tr h="625795">
                <a:tc>
                  <a:txBody>
                    <a:bodyPr/>
                    <a:lstStyle/>
                    <a:p>
                      <a:pPr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Indicador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Percentual de receita proveniente de novas famílias de aeronaves.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Time-</a:t>
                      </a:r>
                      <a:r>
                        <a:rPr lang="pt-BR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to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-Market para novas aeronaves.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Número de profissionais certificados em novas tecnologias (ex.: propulsão híbrida/elétrica).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Índice de satisfação de clientes com novas aeronaves (NPS - Net Promoter Score).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825043"/>
                  </a:ext>
                </a:extLst>
              </a:tr>
              <a:tr h="625795">
                <a:tc>
                  <a:txBody>
                    <a:bodyPr/>
                    <a:lstStyle/>
                    <a:p>
                      <a:pPr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Metas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30% da receita total até 2030.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Reduzir em 20% o ciclo de desenvolvimento em relação ao benchmark atual.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Aumentar em 25% o investimento em tecnologias sustentáveis até 2027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NPS ≥ 80 para novos modelos até 2028.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090286"/>
                  </a:ext>
                </a:extLst>
              </a:tr>
              <a:tr h="1199443">
                <a:tc>
                  <a:txBody>
                    <a:bodyPr/>
                    <a:lstStyle/>
                    <a:p>
                      <a:pPr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Iniciativas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Desenvolver e lançar duas novas famílias de aeronaves regionais até 2031 e duas internacionais até 2035;                                        Modelos financeiros inovadores (leasing, parcerias).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Implementação de engenharia digital e prototipagem virtual;                                 Fortalecimento da gestão ágil de projetos (Scrum/</a:t>
                      </a:r>
                      <a:r>
                        <a:rPr lang="pt-BR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SAFe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).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Programa de capacitação em engenharia aeronáutica avançada;                                                      Parcerias com universidades e centros de P&amp;D em aviação sustentável.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Co-design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Bodoni MT"/>
                        </a:rPr>
                        <a:t> com clientes estratégicos durante o desenvolvimento;                                              Garantia de performance e eficiência operacional superior.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48969"/>
                  </a:ext>
                </a:extLst>
              </a:tr>
            </a:tbl>
          </a:graphicData>
        </a:graphic>
      </p:graphicFrame>
      <p:pic>
        <p:nvPicPr>
          <p:cNvPr id="5" name="Imagem 4" descr="Embraer Logo – PNG e Vetor – Download de Logo">
            <a:extLst>
              <a:ext uri="{FF2B5EF4-FFF2-40B4-BE49-F238E27FC236}">
                <a16:creationId xmlns:a16="http://schemas.microsoft.com/office/drawing/2014/main" id="{4B80C07C-36A3-FCAE-F1B1-7C1FD39DD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8672" y="5682672"/>
            <a:ext cx="1681019" cy="169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555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D1214-7CB6-ED88-DA9F-F018F3872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D60A6-6C45-08F4-0900-5AE6D0B66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50" y="711939"/>
            <a:ext cx="7096110" cy="812062"/>
          </a:xfrm>
        </p:spPr>
        <p:txBody>
          <a:bodyPr>
            <a:noAutofit/>
          </a:bodyPr>
          <a:lstStyle/>
          <a:p>
            <a:r>
              <a:rPr lang="pt-BR" sz="4000" err="1">
                <a:latin typeface="Arial" panose="020B0604020202020204" pitchFamily="34" charset="0"/>
                <a:cs typeface="Arial" panose="020B0604020202020204" pitchFamily="34" charset="0"/>
              </a:rPr>
              <a:t>Balanced</a:t>
            </a:r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4000" err="1">
                <a:latin typeface="Arial" panose="020B0604020202020204" pitchFamily="34" charset="0"/>
                <a:cs typeface="Arial" panose="020B0604020202020204" pitchFamily="34" charset="0"/>
              </a:rPr>
              <a:t>ScoreCard</a:t>
            </a:r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 (BSC)</a:t>
            </a: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F29455D9-4B47-26C9-E324-039DC0A893D7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DA95335E-59F6-1F1D-E8AC-C0BB79A89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792262B-ACB7-9836-094B-1A0A3F14912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125" y="5709017"/>
            <a:ext cx="924757" cy="920268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41DEE23-3FB3-16FA-1448-A6FFD0FFD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89623"/>
              </p:ext>
            </p:extLst>
          </p:nvPr>
        </p:nvGraphicFramePr>
        <p:xfrm>
          <a:off x="577272" y="1512454"/>
          <a:ext cx="11334716" cy="40085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28869">
                  <a:extLst>
                    <a:ext uri="{9D8B030D-6E8A-4147-A177-3AD203B41FA5}">
                      <a16:colId xmlns:a16="http://schemas.microsoft.com/office/drawing/2014/main" val="1811197737"/>
                    </a:ext>
                  </a:extLst>
                </a:gridCol>
                <a:gridCol w="2572078">
                  <a:extLst>
                    <a:ext uri="{9D8B030D-6E8A-4147-A177-3AD203B41FA5}">
                      <a16:colId xmlns:a16="http://schemas.microsoft.com/office/drawing/2014/main" val="1798484207"/>
                    </a:ext>
                  </a:extLst>
                </a:gridCol>
                <a:gridCol w="2677923">
                  <a:extLst>
                    <a:ext uri="{9D8B030D-6E8A-4147-A177-3AD203B41FA5}">
                      <a16:colId xmlns:a16="http://schemas.microsoft.com/office/drawing/2014/main" val="2606511240"/>
                    </a:ext>
                  </a:extLst>
                </a:gridCol>
                <a:gridCol w="2677923">
                  <a:extLst>
                    <a:ext uri="{9D8B030D-6E8A-4147-A177-3AD203B41FA5}">
                      <a16:colId xmlns:a16="http://schemas.microsoft.com/office/drawing/2014/main" val="2665575061"/>
                    </a:ext>
                  </a:extLst>
                </a:gridCol>
                <a:gridCol w="2677923">
                  <a:extLst>
                    <a:ext uri="{9D8B030D-6E8A-4147-A177-3AD203B41FA5}">
                      <a16:colId xmlns:a16="http://schemas.microsoft.com/office/drawing/2014/main" val="2313352536"/>
                    </a:ext>
                  </a:extLst>
                </a:gridCol>
              </a:tblGrid>
              <a:tr h="222222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pt-BR" sz="1300" b="1">
                          <a:solidFill>
                            <a:schemeClr val="tx1"/>
                          </a:solidFill>
                          <a:effectLst/>
                          <a:latin typeface="Bodoni MT"/>
                        </a:rPr>
                        <a:t>Reduzir Dependência de Contratos Governamentais, Ampliando Participação em Mercados Privados e Internacionais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07628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fontAlgn="ctr"/>
                      <a:endParaRPr lang="pt-BR" sz="1300">
                        <a:effectLst/>
                        <a:latin typeface="Bodoni MT" panose="02070603080606020203" pitchFamily="18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>
                          <a:effectLst/>
                          <a:latin typeface="Bodoni MT"/>
                        </a:rPr>
                        <a:t>Perspectiva Financeira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>
                          <a:effectLst/>
                          <a:latin typeface="Bodoni MT"/>
                        </a:rPr>
                        <a:t>Perspectiva de Processos Internos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>
                          <a:effectLst/>
                          <a:latin typeface="Bodoni MT"/>
                        </a:rPr>
                        <a:t>Perspectiva de Aprendizado e Crescimento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>
                          <a:effectLst/>
                          <a:latin typeface="Bodoni MT"/>
                        </a:rPr>
                        <a:t>Perspectiva de Clientes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829066"/>
                  </a:ext>
                </a:extLst>
              </a:tr>
              <a:tr h="71111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>
                          <a:effectLst/>
                          <a:latin typeface="Bodoni MT"/>
                        </a:rPr>
                        <a:t>Objetivo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  <a:latin typeface="Bodoni MT"/>
                        </a:rPr>
                        <a:t>Diversificar fontes de receita, reduzindo dependência do setor público.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  <a:latin typeface="Bodoni MT"/>
                        </a:rPr>
                        <a:t>Estruturar processos comerciais e operacionais orientados ao mercado privado e internacional.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  <a:latin typeface="Bodoni MT"/>
                        </a:rPr>
                        <a:t>Desenvolver competências comerciais e regulatórias para atuação global.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  <a:latin typeface="Bodoni MT"/>
                        </a:rPr>
                        <a:t>Ampliar a base de clientes privados e fortalecer a percepção de valor.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459082"/>
                  </a:ext>
                </a:extLst>
              </a:tr>
              <a:tr h="65185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>
                          <a:effectLst/>
                          <a:latin typeface="Bodoni MT"/>
                        </a:rPr>
                        <a:t>Indicador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  <a:latin typeface="Bodoni MT"/>
                        </a:rPr>
                        <a:t>Percentual de receita proveniente de clientes privados.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  <a:latin typeface="Bodoni MT"/>
                        </a:rPr>
                        <a:t>Número de contratos fechados com clientes privados internacionais.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  <a:latin typeface="Bodoni MT"/>
                        </a:rPr>
                        <a:t>Número de colaboradores capacitados em vendas internacionais e compliance regulatório.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  <a:latin typeface="Bodoni MT"/>
                        </a:rPr>
                        <a:t>Índice de retenção e satisfação de clientes privados.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056779"/>
                  </a:ext>
                </a:extLst>
              </a:tr>
              <a:tr h="75555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>
                          <a:effectLst/>
                          <a:latin typeface="Bodoni MT"/>
                        </a:rPr>
                        <a:t>Metas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  <a:latin typeface="Bodoni MT"/>
                        </a:rPr>
                        <a:t>Alcançar 60% da receita total proveniente de mercados privados até 2030.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  <a:latin typeface="Bodoni MT"/>
                        </a:rPr>
                        <a:t>50 novos contratos privados internacionais até 2028.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  <a:latin typeface="Bodoni MT"/>
                        </a:rPr>
                        <a:t>Capacitar 80% da equipe até 2026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  <a:latin typeface="Bodoni MT"/>
                        </a:rPr>
                        <a:t>Atingir taxa de retenção de 90% até 2030.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775435"/>
                  </a:ext>
                </a:extLst>
              </a:tr>
              <a:tr h="118518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>
                          <a:effectLst/>
                          <a:latin typeface="Bodoni MT"/>
                        </a:rPr>
                        <a:t>Iniciativas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  <a:latin typeface="Bodoni MT"/>
                        </a:rPr>
                        <a:t>Fortalecer vendas de aviação executiva e agrícola;                                   Expandir atuação da Eve Air Mobility no setor de mobilidade aérea urbana.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  <a:latin typeface="Bodoni MT"/>
                        </a:rPr>
                        <a:t>Criação de hubs comerciais em mercados estratégicos (Ásia, África);                                                           Reforço da área de desenvolvimento de negócios internacionais.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  <a:latin typeface="Bodoni MT"/>
                        </a:rPr>
                        <a:t>Programa de capacitação em vendas complexas e negociações internacionais;                Formação contínua em regulamentação aeronáutica internacional.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200">
                          <a:effectLst/>
                          <a:latin typeface="Bodoni MT"/>
                        </a:rPr>
                        <a:t>Desenvolvimento de programas de fidelização e suporte pós-venda (</a:t>
                      </a:r>
                      <a:r>
                        <a:rPr lang="pt-BR" sz="1200" err="1">
                          <a:effectLst/>
                          <a:latin typeface="Bodoni MT"/>
                        </a:rPr>
                        <a:t>aftermarket</a:t>
                      </a:r>
                      <a:r>
                        <a:rPr lang="pt-BR" sz="1200">
                          <a:effectLst/>
                          <a:latin typeface="Bodoni MT"/>
                        </a:rPr>
                        <a:t>);                                                       Reposicionamento de marca para destacar foco em inovação, sustentabilidade e excelência operacional.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948933"/>
                  </a:ext>
                </a:extLst>
              </a:tr>
            </a:tbl>
          </a:graphicData>
        </a:graphic>
      </p:graphicFrame>
      <p:pic>
        <p:nvPicPr>
          <p:cNvPr id="8" name="Imagem 7" descr="Embraer Logo – PNG e Vetor – Download de Logo">
            <a:extLst>
              <a:ext uri="{FF2B5EF4-FFF2-40B4-BE49-F238E27FC236}">
                <a16:creationId xmlns:a16="http://schemas.microsoft.com/office/drawing/2014/main" id="{33F1FFDE-E3EE-17AE-05CD-A98B58CF5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8672" y="5682672"/>
            <a:ext cx="1681019" cy="169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397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D89C4-053F-18E2-B15A-EBDA32C6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14" y="730602"/>
            <a:ext cx="7514175" cy="513797"/>
          </a:xfrm>
        </p:spPr>
        <p:txBody>
          <a:bodyPr>
            <a:noAutofit/>
          </a:bodyPr>
          <a:lstStyle/>
          <a:p>
            <a:r>
              <a:rPr lang="pt-BR" sz="4000" err="1">
                <a:latin typeface="Arial"/>
                <a:cs typeface="Arial"/>
              </a:rPr>
              <a:t>Plan</a:t>
            </a:r>
            <a:r>
              <a:rPr lang="pt-BR" sz="4000">
                <a:latin typeface="Arial"/>
                <a:cs typeface="Arial"/>
              </a:rPr>
              <a:t>-Do-</a:t>
            </a:r>
            <a:r>
              <a:rPr lang="pt-BR" sz="4000" err="1">
                <a:latin typeface="Arial"/>
                <a:cs typeface="Arial"/>
              </a:rPr>
              <a:t>Check</a:t>
            </a:r>
            <a:r>
              <a:rPr lang="pt-BR" sz="4000">
                <a:latin typeface="Arial"/>
                <a:cs typeface="Arial"/>
              </a:rPr>
              <a:t>-</a:t>
            </a:r>
            <a:r>
              <a:rPr lang="pt-BR" sz="4000" err="1">
                <a:latin typeface="Arial"/>
                <a:cs typeface="Arial"/>
              </a:rPr>
              <a:t>Action</a:t>
            </a:r>
            <a:r>
              <a:rPr lang="pt-BR" sz="4000">
                <a:latin typeface="Arial"/>
                <a:cs typeface="Arial"/>
              </a:rPr>
              <a:t> (PDCA)</a:t>
            </a: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116EC607-7B07-9A91-D369-2DEAE8471510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E19D8493-9A9C-8D11-2058-7BC3906A4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451AB9D-EB04-AF2B-0618-F14B5965329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4399" y="5775963"/>
            <a:ext cx="924757" cy="924757"/>
          </a:xfrm>
          <a:prstGeom prst="rect">
            <a:avLst/>
          </a:prstGeom>
        </p:spPr>
      </p:pic>
      <p:pic>
        <p:nvPicPr>
          <p:cNvPr id="7" name="Imagem 6" descr="Embraer Logo – PNG e Vetor – Download de Logo">
            <a:extLst>
              <a:ext uri="{FF2B5EF4-FFF2-40B4-BE49-F238E27FC236}">
                <a16:creationId xmlns:a16="http://schemas.microsoft.com/office/drawing/2014/main" id="{8BA267DB-7315-FF63-2668-D9B1CDE41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8672" y="5682672"/>
            <a:ext cx="1681019" cy="1692564"/>
          </a:xfrm>
          <a:prstGeom prst="rect">
            <a:avLst/>
          </a:prstGeom>
        </p:spPr>
      </p:pic>
      <p:pic>
        <p:nvPicPr>
          <p:cNvPr id="8" name="Imagem 7" descr="Pdca PNGs para download gratuito">
            <a:extLst>
              <a:ext uri="{FF2B5EF4-FFF2-40B4-BE49-F238E27FC236}">
                <a16:creationId xmlns:a16="http://schemas.microsoft.com/office/drawing/2014/main" id="{2B5941FC-B90A-BCCF-FA19-2AA19E873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4723" y="2561312"/>
            <a:ext cx="2372119" cy="2340803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D4B24FF-69CC-D405-D764-60109A8AA687}"/>
              </a:ext>
            </a:extLst>
          </p:cNvPr>
          <p:cNvSpPr txBox="1"/>
          <p:nvPr/>
        </p:nvSpPr>
        <p:spPr>
          <a:xfrm>
            <a:off x="7757535" y="1570182"/>
            <a:ext cx="4182269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1. PLAN (</a:t>
            </a:r>
            <a:r>
              <a:rPr lang="en-US" b="1" err="1"/>
              <a:t>Planejar</a:t>
            </a:r>
            <a:r>
              <a:rPr lang="en-US" b="1"/>
              <a:t>)</a:t>
            </a:r>
          </a:p>
          <a:p>
            <a:endParaRPr lang="en-US"/>
          </a:p>
          <a:p>
            <a:pPr marL="228600" indent="-228600">
              <a:buFont typeface=""/>
              <a:buChar char="•"/>
            </a:pPr>
            <a:r>
              <a:rPr lang="en-US" b="1"/>
              <a:t>5W2H</a:t>
            </a:r>
            <a:br>
              <a:rPr lang="en-US"/>
            </a:br>
            <a:r>
              <a:rPr lang="en-US" err="1"/>
              <a:t>Auxiliou</a:t>
            </a:r>
            <a:r>
              <a:rPr lang="en-US"/>
              <a:t> no </a:t>
            </a:r>
            <a:r>
              <a:rPr lang="en-US" err="1"/>
              <a:t>planejamento</a:t>
            </a:r>
            <a:r>
              <a:rPr lang="en-US"/>
              <a:t> </a:t>
            </a:r>
            <a:r>
              <a:rPr lang="en-US" err="1"/>
              <a:t>detalhado</a:t>
            </a:r>
            <a:r>
              <a:rPr lang="en-US"/>
              <a:t> das </a:t>
            </a:r>
            <a:r>
              <a:rPr lang="en-US" err="1"/>
              <a:t>ações</a:t>
            </a:r>
            <a:r>
              <a:rPr lang="en-US"/>
              <a:t>, </a:t>
            </a:r>
            <a:r>
              <a:rPr lang="en-US" err="1"/>
              <a:t>respondendo</a:t>
            </a:r>
            <a:r>
              <a:rPr lang="en-US"/>
              <a:t> </a:t>
            </a:r>
            <a:r>
              <a:rPr lang="en-US" err="1"/>
              <a:t>perguntas</a:t>
            </a:r>
            <a:r>
              <a:rPr lang="en-US"/>
              <a:t> </a:t>
            </a:r>
            <a:r>
              <a:rPr lang="en-US" err="1"/>
              <a:t>essenciais</a:t>
            </a:r>
            <a:r>
              <a:rPr lang="en-US"/>
              <a:t> </a:t>
            </a:r>
            <a:r>
              <a:rPr lang="en-US" err="1"/>
              <a:t>relacionadas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método</a:t>
            </a:r>
            <a:r>
              <a:rPr lang="en-US"/>
              <a:t> SMART</a:t>
            </a:r>
          </a:p>
          <a:p>
            <a:pPr marL="228600" indent="-228600">
              <a:buFont typeface=""/>
              <a:buChar char="•"/>
            </a:pPr>
            <a:r>
              <a:rPr lang="en-US" b="1" err="1"/>
              <a:t>Matriz</a:t>
            </a:r>
            <a:r>
              <a:rPr lang="en-US" b="1"/>
              <a:t> SWOT</a:t>
            </a:r>
            <a:br>
              <a:rPr lang="en-US"/>
            </a:b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utilizada</a:t>
            </a:r>
            <a:r>
              <a:rPr lang="en-US"/>
              <a:t> para </a:t>
            </a:r>
            <a:r>
              <a:rPr lang="en-US" err="1"/>
              <a:t>diagnosticar</a:t>
            </a:r>
            <a:r>
              <a:rPr lang="en-US"/>
              <a:t> o </a:t>
            </a:r>
            <a:r>
              <a:rPr lang="en-US" err="1"/>
              <a:t>ambiente</a:t>
            </a:r>
            <a:r>
              <a:rPr lang="en-US"/>
              <a:t> </a:t>
            </a:r>
            <a:r>
              <a:rPr lang="en-US" err="1"/>
              <a:t>interno</a:t>
            </a:r>
            <a:r>
              <a:rPr lang="en-US"/>
              <a:t> e </a:t>
            </a:r>
            <a:r>
              <a:rPr lang="en-US" err="1"/>
              <a:t>externo</a:t>
            </a:r>
            <a:r>
              <a:rPr lang="en-US"/>
              <a:t> da Embraer, </a:t>
            </a:r>
            <a:r>
              <a:rPr lang="en-US" err="1"/>
              <a:t>permitindo</a:t>
            </a:r>
            <a:r>
              <a:rPr lang="en-US"/>
              <a:t> </a:t>
            </a:r>
            <a:r>
              <a:rPr lang="en-US" err="1"/>
              <a:t>elaborar</a:t>
            </a:r>
            <a:r>
              <a:rPr lang="en-US"/>
              <a:t> um plano </a:t>
            </a:r>
            <a:r>
              <a:rPr lang="en-US" err="1"/>
              <a:t>estratégico</a:t>
            </a:r>
            <a:r>
              <a:rPr lang="en-US"/>
              <a:t>.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BSC (Balanced Scorecard)</a:t>
            </a:r>
            <a:br>
              <a:rPr lang="en-US"/>
            </a:br>
            <a:r>
              <a:rPr lang="en-US" err="1"/>
              <a:t>Contribuiu</a:t>
            </a:r>
            <a:r>
              <a:rPr lang="en-US"/>
              <a:t> para </a:t>
            </a:r>
            <a:r>
              <a:rPr lang="en-US" err="1"/>
              <a:t>transformar</a:t>
            </a:r>
            <a:r>
              <a:rPr lang="en-US"/>
              <a:t> as </a:t>
            </a:r>
            <a:r>
              <a:rPr lang="en-US" err="1"/>
              <a:t>metas</a:t>
            </a:r>
            <a:r>
              <a:rPr lang="en-US"/>
              <a:t> da </a:t>
            </a:r>
            <a:r>
              <a:rPr lang="en-US" err="1"/>
              <a:t>empresa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objetivos</a:t>
            </a:r>
            <a:r>
              <a:rPr lang="en-US"/>
              <a:t> </a:t>
            </a:r>
            <a:r>
              <a:rPr lang="en-US" err="1"/>
              <a:t>estratégicos</a:t>
            </a:r>
            <a:r>
              <a:rPr lang="en-US"/>
              <a:t> </a:t>
            </a:r>
            <a:r>
              <a:rPr lang="en-US" err="1"/>
              <a:t>bem</a:t>
            </a:r>
            <a:r>
              <a:rPr lang="en-US"/>
              <a:t> </a:t>
            </a:r>
            <a:r>
              <a:rPr lang="en-US" err="1"/>
              <a:t>definidos</a:t>
            </a:r>
            <a:r>
              <a:rPr lang="en-US"/>
              <a:t>.</a:t>
            </a:r>
          </a:p>
        </p:txBody>
      </p:sp>
      <p:pic>
        <p:nvPicPr>
          <p:cNvPr id="10" name="Imagem 9" descr="Seta Preta De Vetor Plano PNG , Flecha, Direção, Flecha Negra PNG Imagem  para download gratuito">
            <a:extLst>
              <a:ext uri="{FF2B5EF4-FFF2-40B4-BE49-F238E27FC236}">
                <a16:creationId xmlns:a16="http://schemas.microsoft.com/office/drawing/2014/main" id="{31FE0271-528B-10DC-4A54-77BF05D817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420000">
            <a:off x="5935838" y="1342579"/>
            <a:ext cx="1546131" cy="149393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D6CFA7D-A0C9-6AF7-4B84-79293E2FF2F3}"/>
              </a:ext>
            </a:extLst>
          </p:cNvPr>
          <p:cNvSpPr txBox="1"/>
          <p:nvPr/>
        </p:nvSpPr>
        <p:spPr>
          <a:xfrm>
            <a:off x="470770" y="1570182"/>
            <a:ext cx="423556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2. CHECK (</a:t>
            </a:r>
            <a:r>
              <a:rPr lang="en-US" b="1" err="1"/>
              <a:t>Verificar</a:t>
            </a:r>
            <a:r>
              <a:rPr lang="en-US" b="1"/>
              <a:t>)</a:t>
            </a:r>
          </a:p>
          <a:p>
            <a:endParaRPr lang="en-US"/>
          </a:p>
          <a:p>
            <a:pPr marL="228600" indent="-228600">
              <a:buFont typeface=""/>
              <a:buChar char="•"/>
            </a:pPr>
            <a:r>
              <a:rPr lang="en-US" b="1"/>
              <a:t>KPIs (Indicadores de Desempenho)</a:t>
            </a:r>
            <a:br>
              <a:rPr lang="en-US"/>
            </a:br>
            <a:r>
              <a:rPr lang="en-US"/>
              <a:t>Serviram para </a:t>
            </a:r>
            <a:r>
              <a:rPr lang="en-US" err="1"/>
              <a:t>avaliar</a:t>
            </a:r>
            <a:r>
              <a:rPr lang="en-US"/>
              <a:t> se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objetivos</a:t>
            </a:r>
            <a:r>
              <a:rPr lang="en-US"/>
              <a:t> </a:t>
            </a:r>
            <a:r>
              <a:rPr lang="en-US" err="1"/>
              <a:t>estabelecidos</a:t>
            </a:r>
            <a:r>
              <a:rPr lang="en-US"/>
              <a:t> </a:t>
            </a:r>
            <a:r>
              <a:rPr lang="en-US" err="1"/>
              <a:t>estavam</a:t>
            </a:r>
            <a:r>
              <a:rPr lang="en-US"/>
              <a:t> </a:t>
            </a:r>
            <a:r>
              <a:rPr lang="en-US" err="1"/>
              <a:t>sendo</a:t>
            </a:r>
            <a:r>
              <a:rPr lang="en-US"/>
              <a:t> </a:t>
            </a:r>
            <a:r>
              <a:rPr lang="en-US" err="1"/>
              <a:t>alcançados</a:t>
            </a:r>
            <a:r>
              <a:rPr lang="en-US"/>
              <a:t>. 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BSC</a:t>
            </a:r>
            <a:br>
              <a:rPr lang="en-US"/>
            </a:br>
            <a:r>
              <a:rPr lang="en-US" err="1"/>
              <a:t>Além</a:t>
            </a:r>
            <a:r>
              <a:rPr lang="en-US"/>
              <a:t> de ser </a:t>
            </a:r>
            <a:r>
              <a:rPr lang="en-US" err="1"/>
              <a:t>útil</a:t>
            </a:r>
            <a:r>
              <a:rPr lang="en-US"/>
              <a:t> no </a:t>
            </a:r>
            <a:r>
              <a:rPr lang="en-US" err="1"/>
              <a:t>planejamento</a:t>
            </a:r>
            <a:r>
              <a:rPr lang="en-US"/>
              <a:t>, o BSC </a:t>
            </a:r>
            <a:r>
              <a:rPr lang="en-US" err="1"/>
              <a:t>também</a:t>
            </a:r>
            <a:r>
              <a:rPr lang="en-US"/>
              <a:t> </a:t>
            </a:r>
            <a:r>
              <a:rPr lang="en-US" err="1"/>
              <a:t>ajuda</a:t>
            </a:r>
            <a:r>
              <a:rPr lang="en-US"/>
              <a:t> a </a:t>
            </a:r>
            <a:r>
              <a:rPr lang="en-US" err="1"/>
              <a:t>acompanhar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resultados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quatro</a:t>
            </a:r>
            <a:r>
              <a:rPr lang="en-US"/>
              <a:t> </a:t>
            </a:r>
            <a:r>
              <a:rPr lang="en-US" err="1"/>
              <a:t>perspectivas</a:t>
            </a:r>
            <a:r>
              <a:rPr lang="en-US"/>
              <a:t>, </a:t>
            </a:r>
            <a:r>
              <a:rPr lang="en-US" err="1"/>
              <a:t>funcionando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ferramenta de </a:t>
            </a:r>
            <a:r>
              <a:rPr lang="en-US" err="1"/>
              <a:t>verificação</a:t>
            </a:r>
            <a:r>
              <a:rPr lang="en-US"/>
              <a:t> </a:t>
            </a:r>
            <a:r>
              <a:rPr lang="en-US" err="1"/>
              <a:t>contínua</a:t>
            </a:r>
            <a:r>
              <a:rPr lang="en-US"/>
              <a:t>.</a:t>
            </a:r>
          </a:p>
        </p:txBody>
      </p:sp>
      <p:pic>
        <p:nvPicPr>
          <p:cNvPr id="13" name="Imagem 12" descr="Arco De Flecha Verde PNG Images | Vetores E Arquivos PSD | Download Grátis  Em Pngtree">
            <a:extLst>
              <a:ext uri="{FF2B5EF4-FFF2-40B4-BE49-F238E27FC236}">
                <a16:creationId xmlns:a16="http://schemas.microsoft.com/office/drawing/2014/main" id="{201D322C-E572-16F2-4A7F-48249992CD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5180000">
            <a:off x="4936753" y="4736377"/>
            <a:ext cx="1480159" cy="146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ângulo Retângulo 3">
            <a:extLst>
              <a:ext uri="{FF2B5EF4-FFF2-40B4-BE49-F238E27FC236}">
                <a16:creationId xmlns:a16="http://schemas.microsoft.com/office/drawing/2014/main" id="{116EC607-7B07-9A91-D369-2DEAE8471510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098" name="Picture 2" descr="Control - Free technology icons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40680" y="5715369"/>
            <a:ext cx="978511" cy="978511"/>
          </a:xfrm>
          <a:prstGeom prst="rect">
            <a:avLst/>
          </a:prstGeom>
          <a:noFill/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291D89C4-053F-18E2-B15A-EBDA32C61CED}"/>
              </a:ext>
            </a:extLst>
          </p:cNvPr>
          <p:cNvSpPr txBox="1">
            <a:spLocks/>
          </p:cNvSpPr>
          <p:nvPr/>
        </p:nvSpPr>
        <p:spPr>
          <a:xfrm>
            <a:off x="508650" y="688848"/>
            <a:ext cx="8837626" cy="13228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defTabSz="914418">
              <a:spcBef>
                <a:spcPct val="0"/>
              </a:spcBef>
              <a:defRPr/>
            </a:pPr>
            <a:r>
              <a:rPr lang="pt-BR" sz="4000" b="1">
                <a:latin typeface="Arial" panose="020B0604020202020204" pitchFamily="34" charset="0"/>
                <a:cs typeface="Arial" panose="020B0604020202020204" pitchFamily="34" charset="0"/>
              </a:rPr>
              <a:t>Ferramentas de controle</a:t>
            </a:r>
            <a:br>
              <a:rPr lang="pt-BR" sz="4000" b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lang="pt-BR" sz="4000" b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lang="pt-BR" sz="4000" b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lang="pt-BR" sz="4000" b="1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49E3F4C-C05D-842E-9F24-2FD7AFDE9C81}"/>
              </a:ext>
            </a:extLst>
          </p:cNvPr>
          <p:cNvGrpSpPr/>
          <p:nvPr/>
        </p:nvGrpSpPr>
        <p:grpSpPr>
          <a:xfrm>
            <a:off x="820294" y="1897784"/>
            <a:ext cx="10553901" cy="2933778"/>
            <a:chOff x="624021" y="2179508"/>
            <a:chExt cx="10553901" cy="2933778"/>
          </a:xfrm>
        </p:grpSpPr>
        <p:sp>
          <p:nvSpPr>
            <p:cNvPr id="4" name="Espaço Reservado para Conteúdo 3">
              <a:extLst>
                <a:ext uri="{FF2B5EF4-FFF2-40B4-BE49-F238E27FC236}">
                  <a16:creationId xmlns:a16="http://schemas.microsoft.com/office/drawing/2014/main" id="{2B9C994D-3A25-4300-8501-579D408E6577}"/>
                </a:ext>
              </a:extLst>
            </p:cNvPr>
            <p:cNvSpPr>
              <a:spLocks noGrp="1"/>
            </p:cNvSpPr>
            <p:nvPr/>
          </p:nvSpPr>
          <p:spPr>
            <a:xfrm>
              <a:off x="624021" y="2179508"/>
              <a:ext cx="4546251" cy="2931269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74320" indent="-27432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74320" indent="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8640" indent="-27432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8640" indent="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800" b="1"/>
                <a:t>Financeiro</a:t>
              </a:r>
              <a:endParaRPr lang="pt-BR" sz="1800"/>
            </a:p>
            <a:p>
              <a:pPr marL="285750" indent="-285750">
                <a:buFont typeface="Arial"/>
                <a:buChar char="•"/>
              </a:pPr>
              <a:r>
                <a:rPr lang="pt-BR" sz="1800" b="1">
                  <a:ea typeface="+mn-lt"/>
                  <a:cs typeface="+mn-lt"/>
                </a:rPr>
                <a:t>ROI (Return on Investment)</a:t>
              </a:r>
              <a:r>
                <a:rPr lang="pt-BR" sz="1800">
                  <a:ea typeface="+mn-lt"/>
                  <a:cs typeface="+mn-lt"/>
                </a:rPr>
                <a:t> – Retorno sobre o investimento.</a:t>
              </a:r>
              <a:endParaRPr lang="pt-BR" sz="1800"/>
            </a:p>
            <a:p>
              <a:pPr marL="285750" indent="-285750">
                <a:buFont typeface="Arial"/>
                <a:buChar char="•"/>
              </a:pPr>
              <a:r>
                <a:rPr lang="pt-BR" sz="1800" b="1">
                  <a:ea typeface="+mn-lt"/>
                  <a:cs typeface="+mn-lt"/>
                </a:rPr>
                <a:t>Margem de Lucro Líquida</a:t>
              </a:r>
              <a:r>
                <a:rPr lang="pt-BR" sz="1800">
                  <a:ea typeface="+mn-lt"/>
                  <a:cs typeface="+mn-lt"/>
                </a:rPr>
                <a:t> – Percentual de lucro líquido sobre a receita.</a:t>
              </a:r>
              <a:endParaRPr lang="pt-BR" sz="1800"/>
            </a:p>
            <a:p>
              <a:pPr marL="285750" indent="-285750">
                <a:buFont typeface="Arial"/>
                <a:buChar char="•"/>
              </a:pPr>
              <a:r>
                <a:rPr lang="pt-BR" sz="1800" b="1">
                  <a:ea typeface="+mn-lt"/>
                  <a:cs typeface="+mn-lt"/>
                </a:rPr>
                <a:t>Receita Bruta e Receita Líquida</a:t>
              </a:r>
              <a:r>
                <a:rPr lang="pt-BR" sz="1800">
                  <a:ea typeface="+mn-lt"/>
                  <a:cs typeface="+mn-lt"/>
                </a:rPr>
                <a:t> – Medição do faturamento total e após deduções.</a:t>
              </a:r>
            </a:p>
            <a:p>
              <a:endParaRPr lang="pt-BR" sz="1800"/>
            </a:p>
          </p:txBody>
        </p:sp>
        <p:sp>
          <p:nvSpPr>
            <p:cNvPr id="2" name="Espaço Reservado para Conteúdo 3">
              <a:extLst>
                <a:ext uri="{FF2B5EF4-FFF2-40B4-BE49-F238E27FC236}">
                  <a16:creationId xmlns:a16="http://schemas.microsoft.com/office/drawing/2014/main" id="{36542E66-DA9F-26CE-71CE-C96FFBB31244}"/>
                </a:ext>
              </a:extLst>
            </p:cNvPr>
            <p:cNvSpPr>
              <a:spLocks noGrp="1"/>
            </p:cNvSpPr>
            <p:nvPr/>
          </p:nvSpPr>
          <p:spPr>
            <a:xfrm>
              <a:off x="5894268" y="2179508"/>
              <a:ext cx="5283654" cy="2933778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74320" indent="-27432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74320" indent="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8640" indent="-27432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8640" indent="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pt-BR" sz="1800" b="1"/>
                <a:t>Marketing e Vendas</a:t>
              </a:r>
            </a:p>
            <a:p>
              <a:pPr>
                <a:lnSpc>
                  <a:spcPct val="90000"/>
                </a:lnSpc>
              </a:pPr>
              <a:r>
                <a:rPr lang="pt-BR" sz="1800" b="1">
                  <a:ea typeface="+mn-lt"/>
                  <a:cs typeface="+mn-lt"/>
                </a:rPr>
                <a:t>CAC (Custo de Aquisição de Clientes) </a:t>
              </a:r>
              <a:r>
                <a:rPr lang="pt-BR" sz="1800">
                  <a:ea typeface="+mn-lt"/>
                  <a:cs typeface="+mn-lt"/>
                </a:rPr>
                <a:t>– Custo médio para adquirir um novo cliente.</a:t>
              </a:r>
              <a:endParaRPr lang="pt-BR" sz="1800"/>
            </a:p>
            <a:p>
              <a:pPr>
                <a:lnSpc>
                  <a:spcPct val="90000"/>
                </a:lnSpc>
              </a:pPr>
              <a:r>
                <a:rPr lang="pt-BR" sz="1800" b="1">
                  <a:ea typeface="+mn-lt"/>
                  <a:cs typeface="+mn-lt"/>
                </a:rPr>
                <a:t>Taxa de Conversão</a:t>
              </a:r>
              <a:r>
                <a:rPr lang="pt-BR" sz="1800">
                  <a:ea typeface="+mn-lt"/>
                  <a:cs typeface="+mn-lt"/>
                </a:rPr>
                <a:t> – Porcentagem de leads convertidos em clientes.</a:t>
              </a:r>
              <a:endParaRPr lang="pt-BR" sz="1800"/>
            </a:p>
            <a:p>
              <a:pPr>
                <a:lnSpc>
                  <a:spcPct val="90000"/>
                </a:lnSpc>
              </a:pPr>
              <a:r>
                <a:rPr lang="pt-BR" sz="1800" b="1">
                  <a:ea typeface="+mn-lt"/>
                  <a:cs typeface="+mn-lt"/>
                </a:rPr>
                <a:t>Taxa de Retenção de Clientes</a:t>
              </a:r>
              <a:r>
                <a:rPr lang="pt-BR" sz="1800">
                  <a:ea typeface="+mn-lt"/>
                  <a:cs typeface="+mn-lt"/>
                </a:rPr>
                <a:t> – Clientes mantidos ao longo do tempo.</a:t>
              </a:r>
              <a:endParaRPr lang="pt-BR" sz="1800"/>
            </a:p>
            <a:p>
              <a:pPr>
                <a:lnSpc>
                  <a:spcPct val="90000"/>
                </a:lnSpc>
              </a:pPr>
              <a:r>
                <a:rPr lang="pt-BR" sz="1800" b="1">
                  <a:ea typeface="+mn-lt"/>
                  <a:cs typeface="+mn-lt"/>
                </a:rPr>
                <a:t>NPS (Net Promoter Score)</a:t>
              </a:r>
              <a:r>
                <a:rPr lang="pt-BR" sz="1800">
                  <a:ea typeface="+mn-lt"/>
                  <a:cs typeface="+mn-lt"/>
                </a:rPr>
                <a:t> – Índice de satisfação e fidelização dos clientes.</a:t>
              </a:r>
              <a:endParaRPr lang="pt-BR" sz="1800"/>
            </a:p>
            <a:p>
              <a:endParaRPr lang="pt-BR" sz="1800" b="1"/>
            </a:p>
            <a:p>
              <a:endParaRPr lang="pt-BR" sz="1800"/>
            </a:p>
          </p:txBody>
        </p:sp>
      </p:grpSp>
      <p:pic>
        <p:nvPicPr>
          <p:cNvPr id="6" name="Imagem 5" descr="Embraer Logo – PNG e Vetor – Download de Logo">
            <a:extLst>
              <a:ext uri="{FF2B5EF4-FFF2-40B4-BE49-F238E27FC236}">
                <a16:creationId xmlns:a16="http://schemas.microsoft.com/office/drawing/2014/main" id="{52D7C61B-77A2-D1EB-7D47-F8CA0B094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672" y="5682672"/>
            <a:ext cx="1681019" cy="169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34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D800A-3E67-2C53-158F-A7A6E63E1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ângulo Retângulo 3">
            <a:extLst>
              <a:ext uri="{FF2B5EF4-FFF2-40B4-BE49-F238E27FC236}">
                <a16:creationId xmlns:a16="http://schemas.microsoft.com/office/drawing/2014/main" id="{55B77E1D-04FC-7D66-D1A5-718309B7BD43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098" name="Picture 2" descr="Control - Free technology icons">
            <a:extLst>
              <a:ext uri="{FF2B5EF4-FFF2-40B4-BE49-F238E27FC236}">
                <a16:creationId xmlns:a16="http://schemas.microsoft.com/office/drawing/2014/main" id="{3E423764-89C9-D451-9CBB-F1118B9B8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40680" y="5715369"/>
            <a:ext cx="978511" cy="978511"/>
          </a:xfrm>
          <a:prstGeom prst="rect">
            <a:avLst/>
          </a:prstGeom>
          <a:noFill/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12F2CE27-A549-1D1D-C2C1-63B96B810262}"/>
              </a:ext>
            </a:extLst>
          </p:cNvPr>
          <p:cNvSpPr txBox="1">
            <a:spLocks/>
          </p:cNvSpPr>
          <p:nvPr/>
        </p:nvSpPr>
        <p:spPr>
          <a:xfrm>
            <a:off x="508650" y="688848"/>
            <a:ext cx="7602262" cy="13228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defTabSz="914418">
              <a:spcBef>
                <a:spcPct val="0"/>
              </a:spcBef>
              <a:defRPr/>
            </a:pPr>
            <a:r>
              <a:rPr lang="pt-BR" sz="4000" b="1">
                <a:latin typeface="Arial" panose="020B0604020202020204" pitchFamily="34" charset="0"/>
                <a:cs typeface="Arial" panose="020B0604020202020204" pitchFamily="34" charset="0"/>
              </a:rPr>
              <a:t>Ferramentas de controle</a:t>
            </a:r>
            <a:br>
              <a:rPr lang="pt-BR" sz="4000" b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lang="pt-BR" sz="4000" b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br>
              <a:rPr lang="pt-BR" sz="4000" b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</a:br>
            <a:endParaRPr lang="pt-BR" sz="4000" b="1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E02D0417-3C5B-2085-D118-B3BE665176D9}"/>
              </a:ext>
            </a:extLst>
          </p:cNvPr>
          <p:cNvGrpSpPr/>
          <p:nvPr/>
        </p:nvGrpSpPr>
        <p:grpSpPr>
          <a:xfrm>
            <a:off x="785657" y="1890870"/>
            <a:ext cx="10620162" cy="2494551"/>
            <a:chOff x="1143566" y="2225689"/>
            <a:chExt cx="10620162" cy="2494551"/>
          </a:xfrm>
        </p:grpSpPr>
        <p:sp>
          <p:nvSpPr>
            <p:cNvPr id="4" name="Espaço Reservado para Conteúdo 3">
              <a:extLst>
                <a:ext uri="{FF2B5EF4-FFF2-40B4-BE49-F238E27FC236}">
                  <a16:creationId xmlns:a16="http://schemas.microsoft.com/office/drawing/2014/main" id="{870A9397-5C04-6208-645E-91DBD7F1123D}"/>
                </a:ext>
              </a:extLst>
            </p:cNvPr>
            <p:cNvSpPr>
              <a:spLocks noGrp="1"/>
            </p:cNvSpPr>
            <p:nvPr/>
          </p:nvSpPr>
          <p:spPr>
            <a:xfrm>
              <a:off x="1143566" y="2225689"/>
              <a:ext cx="4965903" cy="249455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74320" indent="-27432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74320" indent="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8640" indent="-27432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8640" indent="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800" b="1"/>
                <a:t>Clientes</a:t>
              </a:r>
              <a:endParaRPr lang="pt-BR" sz="180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800" b="1">
                  <a:ea typeface="+mn-lt"/>
                  <a:cs typeface="+mn-lt"/>
                </a:rPr>
                <a:t>Satisfação do Cliente (CSAT)</a:t>
              </a:r>
              <a:r>
                <a:rPr lang="pt-BR" sz="1800">
                  <a:ea typeface="+mn-lt"/>
                  <a:cs typeface="+mn-lt"/>
                </a:rPr>
                <a:t> – Índice médio de satisfação em pesquisas.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800" b="1">
                  <a:ea typeface="+mn-lt"/>
                  <a:cs typeface="+mn-lt"/>
                </a:rPr>
                <a:t>NPS (Net Promoter Score)</a:t>
              </a:r>
              <a:r>
                <a:rPr lang="pt-BR" sz="1800">
                  <a:ea typeface="+mn-lt"/>
                  <a:cs typeface="+mn-lt"/>
                </a:rPr>
                <a:t> – Repetido aqui por ser central na medição de lealdade.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800" b="1">
                  <a:ea typeface="+mn-lt"/>
                  <a:cs typeface="+mn-lt"/>
                </a:rPr>
                <a:t>Churn Rate</a:t>
              </a:r>
              <a:r>
                <a:rPr lang="pt-BR" sz="1800">
                  <a:ea typeface="+mn-lt"/>
                  <a:cs typeface="+mn-lt"/>
                </a:rPr>
                <a:t> – Taxa de cancelamento ou perda de clientes.</a:t>
              </a:r>
            </a:p>
            <a:p>
              <a:endParaRPr lang="pt-BR" sz="1800" b="1">
                <a:ea typeface="+mn-lt"/>
                <a:cs typeface="+mn-lt"/>
              </a:endParaRPr>
            </a:p>
            <a:p>
              <a:endParaRPr lang="pt-BR" sz="1800"/>
            </a:p>
          </p:txBody>
        </p:sp>
        <p:sp>
          <p:nvSpPr>
            <p:cNvPr id="2" name="Espaço Reservado para Conteúdo 3">
              <a:extLst>
                <a:ext uri="{FF2B5EF4-FFF2-40B4-BE49-F238E27FC236}">
                  <a16:creationId xmlns:a16="http://schemas.microsoft.com/office/drawing/2014/main" id="{D039E150-D81D-E87D-6D3A-92E49EC88F6E}"/>
                </a:ext>
              </a:extLst>
            </p:cNvPr>
            <p:cNvSpPr>
              <a:spLocks noGrp="1"/>
            </p:cNvSpPr>
            <p:nvPr/>
          </p:nvSpPr>
          <p:spPr>
            <a:xfrm>
              <a:off x="6422348" y="2231462"/>
              <a:ext cx="5341380" cy="248350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74320" indent="-27432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74320" indent="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8640" indent="-27432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48640" indent="0" algn="l" defTabSz="914400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800" b="1"/>
                <a:t>Sustentabilidade e ESG</a:t>
              </a:r>
            </a:p>
            <a:p>
              <a:pPr marL="285750" indent="-285750">
                <a:buChar char="•"/>
              </a:pPr>
              <a:r>
                <a:rPr lang="pt-BR" sz="1800" b="1">
                  <a:ea typeface="+mn-lt"/>
                  <a:cs typeface="+mn-lt"/>
                </a:rPr>
                <a:t>Emissões de CO₂ (por unidade produzida ou km voado)</a:t>
              </a:r>
              <a:r>
                <a:rPr lang="pt-BR" sz="1800">
                  <a:ea typeface="+mn-lt"/>
                  <a:cs typeface="+mn-lt"/>
                </a:rPr>
                <a:t> – Indicador ambiental.</a:t>
              </a:r>
            </a:p>
            <a:p>
              <a:pPr marL="285750" indent="-285750">
                <a:buChar char="•"/>
              </a:pPr>
              <a:r>
                <a:rPr lang="pt-BR" sz="1800" b="1">
                  <a:ea typeface="+mn-lt"/>
                  <a:cs typeface="+mn-lt"/>
                </a:rPr>
                <a:t>Consumo de Energia por Unidade Produzida</a:t>
              </a:r>
              <a:r>
                <a:rPr lang="pt-BR" sz="1800">
                  <a:ea typeface="+mn-lt"/>
                  <a:cs typeface="+mn-lt"/>
                </a:rPr>
                <a:t> – Eficiência energética.</a:t>
              </a:r>
            </a:p>
            <a:p>
              <a:pPr marL="285750" indent="-285750">
                <a:buChar char="•"/>
              </a:pPr>
              <a:r>
                <a:rPr lang="pt-BR" sz="1800" b="1">
                  <a:ea typeface="+mn-lt"/>
                  <a:cs typeface="+mn-lt"/>
                </a:rPr>
                <a:t>Engajamento de Stakeholders</a:t>
              </a:r>
              <a:r>
                <a:rPr lang="pt-BR" sz="1800">
                  <a:ea typeface="+mn-lt"/>
                  <a:cs typeface="+mn-lt"/>
                </a:rPr>
                <a:t> – Participação e percepção de públicos estratégicos.</a:t>
              </a:r>
            </a:p>
            <a:p>
              <a:pPr>
                <a:lnSpc>
                  <a:spcPct val="90000"/>
                </a:lnSpc>
              </a:pPr>
              <a:endParaRPr lang="pt-BR" sz="1800" b="1"/>
            </a:p>
            <a:p>
              <a:endParaRPr lang="pt-BR" sz="1800" b="1"/>
            </a:p>
            <a:p>
              <a:endParaRPr lang="pt-BR" sz="1800"/>
            </a:p>
          </p:txBody>
        </p:sp>
      </p:grpSp>
      <p:pic>
        <p:nvPicPr>
          <p:cNvPr id="6" name="Imagem 5" descr="Embraer Logo – PNG e Vetor – Download de Logo">
            <a:extLst>
              <a:ext uri="{FF2B5EF4-FFF2-40B4-BE49-F238E27FC236}">
                <a16:creationId xmlns:a16="http://schemas.microsoft.com/office/drawing/2014/main" id="{D2BF8A37-69BF-B0C8-4DE3-67486B2A9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672" y="5682672"/>
            <a:ext cx="1681019" cy="169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7370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D89C4-053F-18E2-B15A-EBDA32C6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50" y="688849"/>
            <a:ext cx="5008230" cy="835152"/>
          </a:xfrm>
        </p:spPr>
        <p:txBody>
          <a:bodyPr>
            <a:noAutofit/>
          </a:bodyPr>
          <a:lstStyle/>
          <a:p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116EC607-7B07-9A91-D369-2DEAE8471510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E19D8493-9A9C-8D11-2058-7BC3906A4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169B6088-286F-2AA3-1B41-DE1B26908E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87" y="5660081"/>
            <a:ext cx="1018145" cy="101814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5327F3-FD2F-08E7-C2FE-F92810D76DD5}"/>
              </a:ext>
            </a:extLst>
          </p:cNvPr>
          <p:cNvSpPr>
            <a:spLocks noGrp="1"/>
          </p:cNvSpPr>
          <p:nvPr/>
        </p:nvSpPr>
        <p:spPr>
          <a:xfrm>
            <a:off x="547286" y="1553053"/>
            <a:ext cx="11100908" cy="353150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pt-BR" b="1">
                <a:latin typeface="Arial"/>
                <a:ea typeface="+mn-lt"/>
                <a:cs typeface="+mn-lt"/>
              </a:rPr>
              <a:t>Valor do planejamento estratégico</a:t>
            </a:r>
            <a:br>
              <a:rPr lang="pt-BR" b="1">
                <a:latin typeface="Arial"/>
                <a:ea typeface="+mn-lt"/>
                <a:cs typeface="+mn-lt"/>
              </a:rPr>
            </a:br>
            <a:r>
              <a:rPr lang="pt-BR">
                <a:latin typeface="Arial"/>
                <a:ea typeface="+mn-lt"/>
                <a:cs typeface="+mn-lt"/>
              </a:rPr>
              <a:t> Ferramentas como 5W2H, SWOT e BSC evidenciaram como o planejamento detalhado e estruturado contribui para o crescimento sustentável da empresa, mesmo em um setor altamente competitivo.</a:t>
            </a:r>
            <a:endParaRPr lang="pt-BR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pt-BR" b="1">
                <a:latin typeface="Arial"/>
                <a:ea typeface="+mn-lt"/>
                <a:cs typeface="+mn-lt"/>
              </a:rPr>
              <a:t>Relevância da análise de desempenho (KPIs)</a:t>
            </a:r>
            <a:br>
              <a:rPr lang="pt-BR">
                <a:latin typeface="Arial"/>
                <a:ea typeface="+mn-lt"/>
                <a:cs typeface="+mn-lt"/>
              </a:rPr>
            </a:br>
            <a:r>
              <a:rPr lang="pt-BR">
                <a:latin typeface="Arial"/>
                <a:ea typeface="+mn-lt"/>
                <a:cs typeface="+mn-lt"/>
              </a:rPr>
              <a:t> Aprendemos que o acompanhamento contínuo de indicadores como ROI, NPS e </a:t>
            </a:r>
            <a:r>
              <a:rPr lang="pt-BR" err="1">
                <a:latin typeface="Arial"/>
                <a:ea typeface="+mn-lt"/>
                <a:cs typeface="+mn-lt"/>
              </a:rPr>
              <a:t>Churn</a:t>
            </a:r>
            <a:r>
              <a:rPr lang="pt-BR">
                <a:latin typeface="Arial"/>
                <a:ea typeface="+mn-lt"/>
                <a:cs typeface="+mn-lt"/>
              </a:rPr>
              <a:t> Rate é fundamental para identificar oportunidades de melhoria, manter a qualidade e garantir a satisfação dos stakeholders.</a:t>
            </a:r>
          </a:p>
          <a:p>
            <a:pPr marL="285750" indent="-285750">
              <a:buFont typeface="Arial"/>
              <a:buChar char="•"/>
            </a:pPr>
            <a:r>
              <a:rPr lang="pt-BR" b="1">
                <a:latin typeface="Arial"/>
                <a:ea typeface="+mn-lt"/>
                <a:cs typeface="+mn-lt"/>
              </a:rPr>
              <a:t>Importância da análise baseada em dados para decisões estratégicas</a:t>
            </a:r>
            <a:br>
              <a:rPr lang="pt-BR" b="1">
                <a:latin typeface="Arial"/>
                <a:ea typeface="+mn-lt"/>
                <a:cs typeface="+mn-lt"/>
              </a:rPr>
            </a:br>
            <a:r>
              <a:rPr lang="pt-BR">
                <a:latin typeface="Arial"/>
                <a:ea typeface="+mn-lt"/>
                <a:cs typeface="+mn-lt"/>
              </a:rPr>
              <a:t> O projeto reforçou como empresas como a Embraer utilizam dados quantitativos e qualitativos para embasar decisões críticas, desde o desenvolvimento de novos produtos até estratégias de expansão global.</a:t>
            </a:r>
            <a:endParaRPr lang="pt-BR">
              <a:latin typeface="Arial"/>
            </a:endParaRPr>
          </a:p>
          <a:p>
            <a:endParaRPr lang="pt-BR">
              <a:ea typeface="+mn-lt"/>
              <a:cs typeface="+mn-lt"/>
            </a:endParaRPr>
          </a:p>
        </p:txBody>
      </p:sp>
      <p:pic>
        <p:nvPicPr>
          <p:cNvPr id="8" name="Imagem 7" descr="Embraer Logo – PNG e Vetor – Download de Logo">
            <a:extLst>
              <a:ext uri="{FF2B5EF4-FFF2-40B4-BE49-F238E27FC236}">
                <a16:creationId xmlns:a16="http://schemas.microsoft.com/office/drawing/2014/main" id="{CE79B090-FF93-B2D1-E483-71F98B674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8672" y="5682672"/>
            <a:ext cx="1681019" cy="169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128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D89C4-053F-18E2-B15A-EBDA32C61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50" y="688849"/>
            <a:ext cx="5008230" cy="835152"/>
          </a:xfrm>
        </p:spPr>
        <p:txBody>
          <a:bodyPr>
            <a:noAutofit/>
          </a:bodyPr>
          <a:lstStyle/>
          <a:p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Referências </a:t>
            </a: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E19D8493-9A9C-8D11-2058-7BC3906A4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riângulo Retângulo 3">
            <a:extLst>
              <a:ext uri="{FF2B5EF4-FFF2-40B4-BE49-F238E27FC236}">
                <a16:creationId xmlns:a16="http://schemas.microsoft.com/office/drawing/2014/main" id="{116EC607-7B07-9A91-D369-2DEAE8471510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Download Free Reference Icons in PNG &amp; SV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829" y="5786563"/>
            <a:ext cx="860425" cy="860425"/>
          </a:xfrm>
          <a:prstGeom prst="rect">
            <a:avLst/>
          </a:prstGeom>
          <a:noFill/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5327F3-FD2F-08E7-C2FE-F92810D76DD5}"/>
              </a:ext>
            </a:extLst>
          </p:cNvPr>
          <p:cNvSpPr>
            <a:spLocks noGrp="1"/>
          </p:cNvSpPr>
          <p:nvPr/>
        </p:nvSpPr>
        <p:spPr>
          <a:xfrm>
            <a:off x="1563399" y="1521547"/>
            <a:ext cx="9961230" cy="437387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>
                <a:latin typeface="Arial"/>
                <a:cs typeface="Times New Roman"/>
              </a:rPr>
              <a:t>EMBRAER. </a:t>
            </a:r>
            <a:r>
              <a:rPr lang="pt-BR" sz="1200" i="1">
                <a:latin typeface="Arial"/>
                <a:cs typeface="Times New Roman"/>
              </a:rPr>
              <a:t>Sobre nós</a:t>
            </a:r>
            <a:r>
              <a:rPr lang="pt-BR" sz="1200">
                <a:latin typeface="Arial"/>
                <a:cs typeface="Times New Roman"/>
              </a:rPr>
              <a:t>. Embraer, [s.d.]. Disponível em: </a:t>
            </a:r>
            <a:r>
              <a:rPr lang="pt-BR" sz="1200" u="sng">
                <a:latin typeface="Arial"/>
                <a:cs typeface="Times New Roman"/>
                <a:hlinkClick r:id="rId4"/>
              </a:rPr>
              <a:t>https://embraer.com/br/pt/sobre-nos</a:t>
            </a:r>
            <a:r>
              <a:rPr lang="pt-BR" sz="1200">
                <a:latin typeface="Arial"/>
                <a:cs typeface="Times New Roman"/>
              </a:rPr>
              <a:t>. Acesso em: 21 </a:t>
            </a:r>
            <a:r>
              <a:rPr lang="pt-BR" sz="1200" err="1">
                <a:latin typeface="Arial"/>
                <a:cs typeface="Times New Roman"/>
              </a:rPr>
              <a:t>fev</a:t>
            </a:r>
            <a:r>
              <a:rPr lang="pt-BR" sz="1200">
                <a:latin typeface="Arial"/>
                <a:cs typeface="Times New Roman"/>
              </a:rPr>
              <a:t> 2025.</a:t>
            </a:r>
          </a:p>
          <a:p>
            <a:r>
              <a:rPr lang="pt-BR" sz="1200">
                <a:latin typeface="Arial"/>
                <a:cs typeface="Times New Roman"/>
              </a:rPr>
              <a:t>CNN BRASIL. </a:t>
            </a:r>
            <a:r>
              <a:rPr lang="pt-BR" sz="1200" i="1">
                <a:latin typeface="Arial"/>
                <a:cs typeface="Times New Roman"/>
              </a:rPr>
              <a:t>Entenda por que a Embraer vende mais avião no exterior do que no Brasil</a:t>
            </a:r>
            <a:r>
              <a:rPr lang="pt-BR" sz="1200">
                <a:latin typeface="Arial"/>
                <a:cs typeface="Times New Roman"/>
              </a:rPr>
              <a:t>. CNN Brasil, 2 ago. 2023. Disponível em: </a:t>
            </a:r>
            <a:r>
              <a:rPr lang="pt-BR" sz="1200" u="sng">
                <a:latin typeface="Arial"/>
                <a:cs typeface="Times New Roman"/>
                <a:hlinkClick r:id="rId5"/>
              </a:rPr>
              <a:t>https://www.cnnbrasil.com.br/economia/macroeconomia/entenda-porque-a-embraer-vende-mais-aviao-no-exterior-do-que-no-brasil/</a:t>
            </a:r>
            <a:r>
              <a:rPr lang="pt-BR" sz="1200">
                <a:latin typeface="Arial"/>
                <a:cs typeface="Times New Roman"/>
              </a:rPr>
              <a:t>. Acesso em: 21 </a:t>
            </a:r>
            <a:r>
              <a:rPr lang="pt-BR" sz="1200" err="1">
                <a:latin typeface="Arial"/>
                <a:cs typeface="Times New Roman"/>
              </a:rPr>
              <a:t>fev</a:t>
            </a:r>
            <a:r>
              <a:rPr lang="pt-BR" sz="1200">
                <a:latin typeface="Arial"/>
                <a:cs typeface="Times New Roman"/>
              </a:rPr>
              <a:t> 2025</a:t>
            </a:r>
          </a:p>
          <a:p>
            <a:r>
              <a:rPr lang="pt-BR" sz="1200">
                <a:latin typeface="Arial"/>
                <a:cs typeface="Times New Roman"/>
              </a:rPr>
              <a:t>EMBRAER. </a:t>
            </a:r>
            <a:r>
              <a:rPr lang="pt-BR" sz="1200" i="1">
                <a:latin typeface="Arial"/>
                <a:cs typeface="Times New Roman"/>
              </a:rPr>
              <a:t>Composição acionária</a:t>
            </a:r>
            <a:r>
              <a:rPr lang="pt-BR" sz="1200">
                <a:latin typeface="Arial"/>
                <a:cs typeface="Times New Roman"/>
              </a:rPr>
              <a:t>. Relações com Investidores, 2025. Disponível em: </a:t>
            </a:r>
            <a:r>
              <a:rPr lang="pt-BR" sz="1200" u="sng">
                <a:latin typeface="Arial"/>
                <a:cs typeface="Times New Roman"/>
                <a:hlinkClick r:id="rId6"/>
              </a:rPr>
              <a:t>https://ri.embraer.com.br/governanca/composicao-acionaria/</a:t>
            </a:r>
            <a:r>
              <a:rPr lang="pt-BR" sz="1200">
                <a:latin typeface="Arial"/>
                <a:cs typeface="Times New Roman"/>
              </a:rPr>
              <a:t>. Acesso em: 21 </a:t>
            </a:r>
            <a:r>
              <a:rPr lang="pt-BR" sz="1200" err="1">
                <a:latin typeface="Arial"/>
                <a:cs typeface="Times New Roman"/>
              </a:rPr>
              <a:t>fev</a:t>
            </a:r>
            <a:r>
              <a:rPr lang="pt-BR" sz="1200">
                <a:latin typeface="Arial"/>
                <a:cs typeface="Times New Roman"/>
              </a:rPr>
              <a:t> 2025</a:t>
            </a:r>
          </a:p>
          <a:p>
            <a:r>
              <a:rPr lang="pt-BR" sz="1200">
                <a:latin typeface="Arial"/>
                <a:cs typeface="Times New Roman"/>
              </a:rPr>
              <a:t>O GLOBO. </a:t>
            </a:r>
            <a:r>
              <a:rPr lang="pt-BR" sz="1200" i="1">
                <a:latin typeface="Arial"/>
                <a:cs typeface="Times New Roman"/>
              </a:rPr>
              <a:t>Embraer estuda avião para concorrer com Boeing e Airbus, diz imprensa internacional.</a:t>
            </a:r>
            <a:r>
              <a:rPr lang="pt-BR" sz="1200">
                <a:latin typeface="Arial"/>
                <a:cs typeface="Times New Roman"/>
              </a:rPr>
              <a:t> Economia, 2024. Disponível em: </a:t>
            </a:r>
            <a:r>
              <a:rPr lang="pt-BR" sz="1200" u="sng">
                <a:latin typeface="Arial"/>
                <a:cs typeface="Times New Roman"/>
                <a:hlinkClick r:id="rId7"/>
              </a:rPr>
              <a:t>https://oglobo.globo.com/economia/noticia/2024/05/02/embraer-estuda-aviao-para-concorrer-com-boeing-e-airbus-diz-imprensa-internacional.ghtml</a:t>
            </a:r>
            <a:r>
              <a:rPr lang="pt-BR" sz="1200">
                <a:latin typeface="Arial"/>
                <a:cs typeface="Times New Roman"/>
              </a:rPr>
              <a:t>. Acesso em: 21 fev. 2025.</a:t>
            </a:r>
          </a:p>
          <a:p>
            <a:pPr algn="just"/>
            <a:r>
              <a:rPr lang="pt-BR" sz="1200">
                <a:latin typeface="Arial"/>
                <a:cs typeface="Times New Roman"/>
              </a:rPr>
              <a:t>CNN BRASIL. </a:t>
            </a:r>
            <a:r>
              <a:rPr lang="pt-BR" sz="1200" i="1">
                <a:latin typeface="Arial"/>
                <a:cs typeface="Times New Roman"/>
              </a:rPr>
              <a:t>Entenda por que a Embraer vende mais avião no exterior do que no Brasil.</a:t>
            </a:r>
            <a:r>
              <a:rPr lang="pt-BR" sz="1200">
                <a:latin typeface="Arial"/>
                <a:cs typeface="Times New Roman"/>
              </a:rPr>
              <a:t> Macroeconomia, 2023. Disponível em: </a:t>
            </a:r>
            <a:r>
              <a:rPr lang="pt-BR" sz="1200" u="sng">
                <a:latin typeface="Arial"/>
                <a:cs typeface="Times New Roman"/>
                <a:hlinkClick r:id="rId5"/>
              </a:rPr>
              <a:t>https://www.cnnbrasil.com.br/economia/macroeconomia/entenda-porque-a-embraer-vende-mais-aviao-no-exterior-do-que-no-brasil/</a:t>
            </a:r>
            <a:r>
              <a:rPr lang="pt-BR" sz="1200">
                <a:latin typeface="Arial"/>
                <a:cs typeface="Times New Roman"/>
              </a:rPr>
              <a:t>. Acesso em: 22 fev. 2025.</a:t>
            </a:r>
          </a:p>
          <a:p>
            <a:pPr algn="just"/>
            <a:r>
              <a:rPr lang="pt-BR" sz="1200">
                <a:latin typeface="Arial"/>
                <a:cs typeface="Times New Roman"/>
              </a:rPr>
              <a:t>EXAME. </a:t>
            </a:r>
            <a:r>
              <a:rPr lang="pt-BR" sz="1200" i="1">
                <a:latin typeface="Arial"/>
                <a:cs typeface="Times New Roman"/>
              </a:rPr>
              <a:t>Veja a lista dos 10 maiores pedidos da Embraer.</a:t>
            </a:r>
            <a:r>
              <a:rPr lang="pt-BR" sz="1200">
                <a:latin typeface="Arial"/>
                <a:cs typeface="Times New Roman"/>
              </a:rPr>
              <a:t> Negócios, 2013. Disponível em: </a:t>
            </a:r>
            <a:r>
              <a:rPr lang="pt-BR" sz="1200" u="sng">
                <a:latin typeface="Arial"/>
                <a:cs typeface="Times New Roman"/>
                <a:hlinkClick r:id="rId8"/>
              </a:rPr>
              <a:t>https://exame.com/negocios/veja-a-lista-dos-10-maiores-pedidos-da-embraer/</a:t>
            </a:r>
            <a:r>
              <a:rPr lang="pt-BR" sz="1200">
                <a:latin typeface="Arial"/>
                <a:cs typeface="Times New Roman"/>
              </a:rPr>
              <a:t>. Acesso em: 28 fev. 2025.</a:t>
            </a:r>
          </a:p>
          <a:p>
            <a:pPr algn="just"/>
            <a:r>
              <a:rPr lang="pt-BR" sz="1200">
                <a:latin typeface="Arial"/>
                <a:cs typeface="Times New Roman"/>
              </a:rPr>
              <a:t>O GLOBO. </a:t>
            </a:r>
            <a:r>
              <a:rPr lang="pt-BR" sz="1200" i="1">
                <a:latin typeface="Arial"/>
                <a:cs typeface="Times New Roman"/>
              </a:rPr>
              <a:t>Embraer quer entrar no mercado de defesa dos EUA e estuda até aquisições no país.</a:t>
            </a:r>
            <a:r>
              <a:rPr lang="pt-BR" sz="1200">
                <a:latin typeface="Arial"/>
                <a:cs typeface="Times New Roman"/>
              </a:rPr>
              <a:t> Negócios, 2024. Disponível em: </a:t>
            </a:r>
            <a:r>
              <a:rPr lang="pt-BR" sz="1200">
                <a:latin typeface="Arial"/>
                <a:cs typeface="Times New Roman"/>
                <a:hlinkClick r:id="rId9"/>
              </a:rPr>
              <a:t>https://oglobo.globo.com/economia/negocios/noticia/2024/06/19/embraer-quer-entrar-no-mercado-de-defesa-dos-eua-e-estuda-ate-aquisicoes-no-pais.ghtml</a:t>
            </a:r>
            <a:r>
              <a:rPr lang="pt-BR" sz="1200">
                <a:latin typeface="Arial"/>
                <a:cs typeface="Times New Roman"/>
              </a:rPr>
              <a:t>. Acesso em: 28 fev. 2025.</a:t>
            </a:r>
          </a:p>
          <a:p>
            <a:pPr algn="just"/>
            <a:r>
              <a:rPr lang="pt-BR" sz="1200">
                <a:latin typeface="Arial"/>
                <a:cs typeface="Times New Roman"/>
              </a:rPr>
              <a:t>PODER360.</a:t>
            </a:r>
            <a:r>
              <a:rPr lang="pt-BR" sz="1200" i="1">
                <a:latin typeface="Arial"/>
                <a:cs typeface="Times New Roman"/>
              </a:rPr>
              <a:t> Embraer anuncia programa para recompra de 1,07 milhão de ações. </a:t>
            </a:r>
            <a:r>
              <a:rPr lang="pt-BR" sz="1200">
                <a:latin typeface="Arial"/>
                <a:cs typeface="Times New Roman"/>
              </a:rPr>
              <a:t>Poder Infra, 2025. Disponível em: </a:t>
            </a:r>
            <a:r>
              <a:rPr lang="pt-BR" sz="1200">
                <a:latin typeface="Arial"/>
                <a:cs typeface="Times New Roman"/>
                <a:hlinkClick r:id="rId10"/>
              </a:rPr>
              <a:t>https://www.poder360.com.br/poder-infra/embraer-anuncia-programa-para-recompra-de-107-milhao-de-acoes/</a:t>
            </a:r>
            <a:r>
              <a:rPr lang="pt-BR" sz="1200">
                <a:latin typeface="Arial"/>
                <a:cs typeface="Times New Roman"/>
              </a:rPr>
              <a:t>. Acesso em: 28 fev. 2025.</a:t>
            </a:r>
          </a:p>
          <a:p>
            <a:r>
              <a:rPr lang="pt-BR" sz="1200">
                <a:latin typeface="Arial"/>
                <a:cs typeface="Times New Roman"/>
              </a:rPr>
              <a:t>EVIATION. </a:t>
            </a:r>
            <a:r>
              <a:rPr lang="pt-BR" sz="1200" i="1">
                <a:latin typeface="Arial"/>
                <a:cs typeface="Times New Roman"/>
              </a:rPr>
              <a:t>Concorrentes da Embraer.</a:t>
            </a:r>
            <a:r>
              <a:rPr lang="pt-BR" sz="1200">
                <a:latin typeface="Arial"/>
                <a:cs typeface="Times New Roman"/>
              </a:rPr>
              <a:t> 2024. Disponível em: </a:t>
            </a:r>
            <a:r>
              <a:rPr lang="pt-BR" sz="1200" u="sng">
                <a:latin typeface="Arial"/>
                <a:cs typeface="Times New Roman"/>
                <a:hlinkClick r:id="rId11"/>
              </a:rPr>
              <a:t>https://eviation.com.br/concorrentes-da-embraer/</a:t>
            </a:r>
            <a:r>
              <a:rPr lang="pt-BR" sz="1200">
                <a:latin typeface="Arial"/>
                <a:cs typeface="Times New Roman"/>
              </a:rPr>
              <a:t>. Acesso em: 01 mar. 2025.</a:t>
            </a:r>
          </a:p>
          <a:p>
            <a:r>
              <a:rPr lang="pt-BR" sz="1200">
                <a:latin typeface="Arial"/>
                <a:cs typeface="Times New Roman"/>
              </a:rPr>
              <a:t>BOEING.</a:t>
            </a:r>
            <a:r>
              <a:rPr lang="pt-BR" sz="1200" i="1">
                <a:latin typeface="Arial"/>
                <a:cs typeface="Times New Roman"/>
              </a:rPr>
              <a:t> Boeing </a:t>
            </a:r>
            <a:r>
              <a:rPr lang="pt-BR" sz="1200" i="1" err="1">
                <a:latin typeface="Arial"/>
                <a:cs typeface="Times New Roman"/>
              </a:rPr>
              <a:t>terminates</a:t>
            </a:r>
            <a:r>
              <a:rPr lang="pt-BR" sz="1200" i="1">
                <a:latin typeface="Arial"/>
                <a:cs typeface="Times New Roman"/>
              </a:rPr>
              <a:t> </a:t>
            </a:r>
            <a:r>
              <a:rPr lang="pt-BR" sz="1200" i="1" err="1">
                <a:latin typeface="Arial"/>
                <a:cs typeface="Times New Roman"/>
              </a:rPr>
              <a:t>agreement</a:t>
            </a:r>
            <a:r>
              <a:rPr lang="pt-BR" sz="1200" i="1">
                <a:latin typeface="Arial"/>
                <a:cs typeface="Times New Roman"/>
              </a:rPr>
              <a:t> </a:t>
            </a:r>
            <a:r>
              <a:rPr lang="pt-BR" sz="1200" i="1" err="1">
                <a:latin typeface="Arial"/>
                <a:cs typeface="Times New Roman"/>
              </a:rPr>
              <a:t>with</a:t>
            </a:r>
            <a:r>
              <a:rPr lang="pt-BR" sz="1200" i="1">
                <a:latin typeface="Arial"/>
                <a:cs typeface="Times New Roman"/>
              </a:rPr>
              <a:t> Embraer. </a:t>
            </a:r>
            <a:r>
              <a:rPr lang="pt-BR" sz="1200">
                <a:latin typeface="Arial"/>
                <a:cs typeface="Times New Roman"/>
              </a:rPr>
              <a:t>Notícias, 2020. Disponível em: </a:t>
            </a:r>
            <a:r>
              <a:rPr lang="pt-BR" sz="1200">
                <a:latin typeface="Arial"/>
                <a:cs typeface="Times New Roman"/>
                <a:hlinkClick r:id="rId12"/>
              </a:rPr>
              <a:t>https://www.boeing.com.br/news/2020/boeing-terminates-agreement-with-embraer</a:t>
            </a:r>
            <a:r>
              <a:rPr lang="pt-BR" sz="1200">
                <a:latin typeface="Arial"/>
                <a:cs typeface="Times New Roman"/>
              </a:rPr>
              <a:t>. Acesso em:  06 mar. 2025.</a:t>
            </a:r>
            <a:r>
              <a:rPr lang="pt-BR" sz="1200" b="1">
                <a:latin typeface="Arial"/>
                <a:cs typeface="Times New Roman"/>
              </a:rPr>
              <a:t> </a:t>
            </a:r>
            <a:endParaRPr lang="pt-BR" sz="1200">
              <a:latin typeface="Arial"/>
              <a:cs typeface="Times New Roman"/>
            </a:endParaRPr>
          </a:p>
          <a:p>
            <a:endParaRPr lang="pt-BR"/>
          </a:p>
        </p:txBody>
      </p:sp>
      <p:pic>
        <p:nvPicPr>
          <p:cNvPr id="5" name="Imagem 4" descr="Embraer Logo – PNG e Vetor – Download de Logo">
            <a:extLst>
              <a:ext uri="{FF2B5EF4-FFF2-40B4-BE49-F238E27FC236}">
                <a16:creationId xmlns:a16="http://schemas.microsoft.com/office/drawing/2014/main" id="{6F189E6F-AF18-8007-31A9-807B450CFAA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08672" y="5682672"/>
            <a:ext cx="1681019" cy="169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00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5978D-0BDC-CA21-5FCF-2B6E68BD1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E6EA4-D4F4-344B-D9ED-C610032A8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50" y="688849"/>
            <a:ext cx="5008230" cy="835152"/>
          </a:xfrm>
        </p:spPr>
        <p:txBody>
          <a:bodyPr>
            <a:noAutofit/>
          </a:bodyPr>
          <a:lstStyle/>
          <a:p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Referências </a:t>
            </a: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5BE58BC9-53EA-8A4F-2E35-61CE52AB1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riângulo Retângulo 3">
            <a:extLst>
              <a:ext uri="{FF2B5EF4-FFF2-40B4-BE49-F238E27FC236}">
                <a16:creationId xmlns:a16="http://schemas.microsoft.com/office/drawing/2014/main" id="{E8788070-DAA3-6477-F0B4-BE8D1E6B4AE4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Download Free Reference Icons in PNG &amp; SVG">
            <a:extLst>
              <a:ext uri="{FF2B5EF4-FFF2-40B4-BE49-F238E27FC236}">
                <a16:creationId xmlns:a16="http://schemas.microsoft.com/office/drawing/2014/main" id="{F01A3F0F-6196-F2D3-3AEB-484F52AF8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829" y="5786563"/>
            <a:ext cx="860425" cy="860425"/>
          </a:xfrm>
          <a:prstGeom prst="rect">
            <a:avLst/>
          </a:prstGeom>
          <a:noFill/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83CD8A-C743-430F-32D9-37FEEBFBB493}"/>
              </a:ext>
            </a:extLst>
          </p:cNvPr>
          <p:cNvSpPr>
            <a:spLocks noGrp="1"/>
          </p:cNvSpPr>
          <p:nvPr/>
        </p:nvSpPr>
        <p:spPr>
          <a:xfrm>
            <a:off x="1563399" y="1333657"/>
            <a:ext cx="9334928" cy="519850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>
                <a:latin typeface="Arial"/>
                <a:cs typeface="Times New Roman"/>
              </a:rPr>
              <a:t>PANROTAS. </a:t>
            </a:r>
            <a:r>
              <a:rPr lang="pt-BR" sz="1000" i="1">
                <a:latin typeface="Arial"/>
                <a:cs typeface="Times New Roman"/>
              </a:rPr>
              <a:t>Turismo sustentável é preferência de 69% dos viajantes</a:t>
            </a:r>
            <a:r>
              <a:rPr lang="pt-BR" sz="1000">
                <a:latin typeface="Arial"/>
                <a:cs typeface="Times New Roman"/>
              </a:rPr>
              <a:t>. Mercado, 2023. Disponível em: </a:t>
            </a:r>
            <a:r>
              <a:rPr lang="pt-BR" sz="1000">
                <a:latin typeface="Arial"/>
                <a:cs typeface="Times New Roman"/>
                <a:hlinkClick r:id="rId4"/>
              </a:rPr>
              <a:t>https://www.panrotas.com.br/mercado/sustentabilidade/2023/01/turismo-sustentavel-esta-na-preferencia-de-69-dos-viajantes_194348.html</a:t>
            </a:r>
            <a:r>
              <a:rPr lang="pt-BR" sz="1000">
                <a:latin typeface="Arial"/>
                <a:cs typeface="Times New Roman"/>
              </a:rPr>
              <a:t>. Acesso em: 3 mar. 2025</a:t>
            </a:r>
            <a:endParaRPr lang="en-US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Times New Roman"/>
              </a:rPr>
              <a:t>CNN BRASIL. </a:t>
            </a:r>
            <a:r>
              <a:rPr lang="pt-BR" sz="1000" i="1">
                <a:latin typeface="Arial"/>
                <a:cs typeface="Times New Roman"/>
              </a:rPr>
              <a:t>Nível de gastos militares mundiais é o maior em 40 anos, diz relatório</a:t>
            </a:r>
            <a:r>
              <a:rPr lang="pt-BR" sz="1000">
                <a:latin typeface="Arial"/>
                <a:cs typeface="Times New Roman"/>
              </a:rPr>
              <a:t>. Internacional, 2025. Disponível em: </a:t>
            </a:r>
            <a:r>
              <a:rPr lang="pt-BR" sz="1000">
                <a:latin typeface="Arial"/>
                <a:cs typeface="Times New Roman"/>
                <a:hlinkClick r:id="rId5"/>
              </a:rPr>
              <a:t>https://www.cnnbrasil.com.br/internacional/nivel-de-gastos-militares-mundiais-e-o-maior-em-40-anos-diz-relatorio/#:~:text=O%20aumento%20de%209%2C4,a%20crescente%20corrida%20armamentista%20global</a:t>
            </a:r>
            <a:r>
              <a:rPr lang="pt-BR" sz="1000">
                <a:latin typeface="Arial"/>
                <a:cs typeface="Times New Roman"/>
              </a:rPr>
              <a:t>. Acesso em: 4 mar.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Times New Roman"/>
              </a:rPr>
              <a:t>VEJA</a:t>
            </a:r>
            <a:r>
              <a:rPr lang="pt-BR" sz="1000" b="1">
                <a:latin typeface="Arial"/>
                <a:cs typeface="Times New Roman"/>
              </a:rPr>
              <a:t>.</a:t>
            </a:r>
            <a:r>
              <a:rPr lang="pt-BR" sz="1000">
                <a:latin typeface="Arial"/>
                <a:cs typeface="Times New Roman"/>
              </a:rPr>
              <a:t> </a:t>
            </a:r>
            <a:r>
              <a:rPr lang="pt-BR" sz="1000" i="1">
                <a:latin typeface="Arial"/>
                <a:cs typeface="Times New Roman"/>
              </a:rPr>
              <a:t>Viagens aéreas internacionais e domésticas têm crescimento recorde em 2024.</a:t>
            </a:r>
            <a:r>
              <a:rPr lang="pt-BR" sz="1000">
                <a:latin typeface="Arial"/>
                <a:cs typeface="Times New Roman"/>
              </a:rPr>
              <a:t> Mundo, 2025. Disponível em: </a:t>
            </a:r>
            <a:r>
              <a:rPr lang="pt-BR" sz="1000">
                <a:latin typeface="Arial"/>
                <a:cs typeface="Times New Roman"/>
                <a:hlinkClick r:id="rId6"/>
              </a:rPr>
              <a:t>https://veja.abril.com.br/mundo/viagens-aereas-internacionais-e-domesticas-tem-crescimento-recorde-em-2024</a:t>
            </a:r>
            <a:r>
              <a:rPr lang="pt-BR" sz="1000">
                <a:latin typeface="Arial"/>
                <a:cs typeface="Times New Roman"/>
              </a:rPr>
              <a:t>. Acesso em: 4 mar.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Times New Roman"/>
              </a:rPr>
              <a:t>PANROTAS. </a:t>
            </a:r>
            <a:r>
              <a:rPr lang="pt-BR" sz="1000" i="1">
                <a:latin typeface="Arial"/>
                <a:cs typeface="Times New Roman"/>
              </a:rPr>
              <a:t>Custo da transição sustentável das empresas aéreas será de US$ 4,7 trilhões</a:t>
            </a:r>
            <a:r>
              <a:rPr lang="pt-BR" sz="1000">
                <a:latin typeface="Arial"/>
                <a:cs typeface="Times New Roman"/>
              </a:rPr>
              <a:t>. Aviação, 2024. Disponível em: </a:t>
            </a:r>
            <a:r>
              <a:rPr lang="pt-BR" sz="1000">
                <a:latin typeface="Arial"/>
                <a:cs typeface="Times New Roman"/>
                <a:hlinkClick r:id="rId7"/>
              </a:rPr>
              <a:t>https://www.panrotas.com.br/aviacao/investimentos/2024/11/custo-da-transicao-sustentavel-das-empresas-aereas-sera-de-us-47-trilhoes_211265.html</a:t>
            </a:r>
            <a:r>
              <a:rPr lang="pt-BR" sz="1000">
                <a:latin typeface="Arial"/>
                <a:cs typeface="Times New Roman"/>
              </a:rPr>
              <a:t>. Acesso em: 5 mar.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Times New Roman"/>
              </a:rPr>
              <a:t>CNN BRASIL</a:t>
            </a:r>
            <a:r>
              <a:rPr lang="pt-BR" sz="1000" b="1">
                <a:latin typeface="Arial"/>
                <a:cs typeface="Times New Roman"/>
              </a:rPr>
              <a:t>.</a:t>
            </a:r>
            <a:r>
              <a:rPr lang="pt-BR" sz="1000">
                <a:latin typeface="Arial"/>
                <a:cs typeface="Times New Roman"/>
              </a:rPr>
              <a:t> </a:t>
            </a:r>
            <a:r>
              <a:rPr lang="pt-BR" sz="1000" i="1">
                <a:latin typeface="Arial"/>
                <a:cs typeface="Times New Roman"/>
              </a:rPr>
              <a:t>Air Astana processa Embraer por aviões com ‘sérios problemas de segurança’.</a:t>
            </a:r>
            <a:r>
              <a:rPr lang="pt-BR" sz="1000">
                <a:latin typeface="Arial"/>
                <a:cs typeface="Times New Roman"/>
              </a:rPr>
              <a:t> Economia, 2021. Disponível em: </a:t>
            </a:r>
            <a:r>
              <a:rPr lang="pt-BR" sz="1000">
                <a:latin typeface="Arial"/>
                <a:cs typeface="Times New Roman"/>
                <a:hlinkClick r:id="rId8"/>
              </a:rPr>
              <a:t>https://www.cnnbrasil.com.br/economia/macroeconomia/air-astana-processa-embraer-por-avioes-com-serios-problemas-de-seguranca/</a:t>
            </a:r>
            <a:r>
              <a:rPr lang="pt-BR" sz="1000">
                <a:latin typeface="Arial"/>
                <a:cs typeface="Times New Roman"/>
              </a:rPr>
              <a:t>. Acesso em: 9 mar.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en-US" sz="1000">
                <a:latin typeface="Arial"/>
                <a:cs typeface="Times New Roman"/>
              </a:rPr>
              <a:t>INFOMONEY. </a:t>
            </a:r>
            <a:r>
              <a:rPr lang="en-US" sz="1000" i="1">
                <a:latin typeface="Arial"/>
                <a:cs typeface="Times New Roman"/>
              </a:rPr>
              <a:t>Embraer (EMBR3) </a:t>
            </a:r>
            <a:r>
              <a:rPr lang="en-US" sz="1000" i="1" err="1">
                <a:latin typeface="Arial"/>
                <a:cs typeface="Times New Roman"/>
              </a:rPr>
              <a:t>aponta</a:t>
            </a:r>
            <a:r>
              <a:rPr lang="en-US" sz="1000" i="1">
                <a:latin typeface="Arial"/>
                <a:cs typeface="Times New Roman"/>
              </a:rPr>
              <a:t> </a:t>
            </a:r>
            <a:r>
              <a:rPr lang="en-US" sz="1000" i="1" err="1">
                <a:latin typeface="Arial"/>
                <a:cs typeface="Times New Roman"/>
              </a:rPr>
              <a:t>dificuldades</a:t>
            </a:r>
            <a:r>
              <a:rPr lang="en-US" sz="1000" i="1">
                <a:latin typeface="Arial"/>
                <a:cs typeface="Times New Roman"/>
              </a:rPr>
              <a:t> </a:t>
            </a:r>
            <a:r>
              <a:rPr lang="en-US" sz="1000" i="1" err="1">
                <a:latin typeface="Arial"/>
                <a:cs typeface="Times New Roman"/>
              </a:rPr>
              <a:t>em</a:t>
            </a:r>
            <a:r>
              <a:rPr lang="en-US" sz="1000" i="1">
                <a:latin typeface="Arial"/>
                <a:cs typeface="Times New Roman"/>
              </a:rPr>
              <a:t> </a:t>
            </a:r>
            <a:r>
              <a:rPr lang="en-US" sz="1000" i="1" err="1">
                <a:latin typeface="Arial"/>
                <a:cs typeface="Times New Roman"/>
              </a:rPr>
              <a:t>conseguir</a:t>
            </a:r>
            <a:r>
              <a:rPr lang="en-US" sz="1000" i="1">
                <a:latin typeface="Arial"/>
                <a:cs typeface="Times New Roman"/>
              </a:rPr>
              <a:t> </a:t>
            </a:r>
            <a:r>
              <a:rPr lang="en-US" sz="1000" i="1" err="1">
                <a:latin typeface="Arial"/>
                <a:cs typeface="Times New Roman"/>
              </a:rPr>
              <a:t>peças</a:t>
            </a:r>
            <a:r>
              <a:rPr lang="en-US" sz="1000" i="1">
                <a:latin typeface="Arial"/>
                <a:cs typeface="Times New Roman"/>
              </a:rPr>
              <a:t> para </a:t>
            </a:r>
            <a:r>
              <a:rPr lang="en-US" sz="1000" i="1" err="1">
                <a:latin typeface="Arial"/>
                <a:cs typeface="Times New Roman"/>
              </a:rPr>
              <a:t>produção</a:t>
            </a:r>
            <a:r>
              <a:rPr lang="en-US" sz="1000">
                <a:latin typeface="Arial"/>
                <a:cs typeface="Times New Roman"/>
              </a:rPr>
              <a:t>. Mercados, 2022. </a:t>
            </a:r>
            <a:r>
              <a:rPr lang="en-US" sz="1000" err="1">
                <a:latin typeface="Arial"/>
                <a:cs typeface="Times New Roman"/>
              </a:rPr>
              <a:t>Disponível</a:t>
            </a:r>
            <a:r>
              <a:rPr lang="en-US" sz="1000">
                <a:latin typeface="Arial"/>
                <a:cs typeface="Times New Roman"/>
              </a:rPr>
              <a:t> </a:t>
            </a:r>
            <a:r>
              <a:rPr lang="en-US" sz="1000" err="1">
                <a:latin typeface="Arial"/>
                <a:cs typeface="Times New Roman"/>
              </a:rPr>
              <a:t>em</a:t>
            </a:r>
            <a:r>
              <a:rPr lang="en-US" sz="1000">
                <a:latin typeface="Arial"/>
                <a:cs typeface="Times New Roman"/>
              </a:rPr>
              <a:t>: </a:t>
            </a:r>
            <a:r>
              <a:rPr lang="en-US" sz="1000">
                <a:latin typeface="Arial"/>
                <a:cs typeface="Times New Roman"/>
                <a:hlinkClick r:id="rId9"/>
              </a:rPr>
              <a:t>https://www.infomoney.com.br/mercados/embraer-embr3-aponta-dificuldades-em-conseguir-pecas-para-producao/</a:t>
            </a:r>
            <a:r>
              <a:rPr lang="en-US" sz="1000">
                <a:latin typeface="Arial"/>
                <a:cs typeface="Times New Roman"/>
              </a:rPr>
              <a:t>. </a:t>
            </a:r>
            <a:r>
              <a:rPr lang="en-US" sz="1000" err="1">
                <a:latin typeface="Arial"/>
                <a:cs typeface="Times New Roman"/>
              </a:rPr>
              <a:t>Acesso</a:t>
            </a:r>
            <a:r>
              <a:rPr lang="en-US" sz="1000">
                <a:latin typeface="Arial"/>
                <a:cs typeface="Times New Roman"/>
              </a:rPr>
              <a:t> </a:t>
            </a:r>
            <a:r>
              <a:rPr lang="en-US" sz="1000" err="1">
                <a:latin typeface="Arial"/>
                <a:cs typeface="Times New Roman"/>
              </a:rPr>
              <a:t>em</a:t>
            </a:r>
            <a:r>
              <a:rPr lang="en-US" sz="1000">
                <a:latin typeface="Arial"/>
                <a:cs typeface="Times New Roman"/>
              </a:rPr>
              <a:t>: 9 mar. 2025.</a:t>
            </a:r>
          </a:p>
          <a:p>
            <a:r>
              <a:rPr lang="pt-BR" sz="1000">
                <a:latin typeface="Arial"/>
                <a:cs typeface="Times New Roman"/>
              </a:rPr>
              <a:t>AEROIN. </a:t>
            </a:r>
            <a:r>
              <a:rPr lang="pt-BR" sz="1000" i="1">
                <a:latin typeface="Arial"/>
                <a:cs typeface="Times New Roman"/>
              </a:rPr>
              <a:t>Escassez de motores obriga Embraer a reduzir expectativa de produção de E-Jets em 2024.</a:t>
            </a:r>
            <a:r>
              <a:rPr lang="pt-BR" sz="1000">
                <a:latin typeface="Arial"/>
                <a:cs typeface="Times New Roman"/>
              </a:rPr>
              <a:t> Mercado, 2024. Disponível em: </a:t>
            </a:r>
            <a:r>
              <a:rPr lang="pt-BR" sz="1000">
                <a:latin typeface="Arial"/>
                <a:cs typeface="Times New Roman"/>
                <a:hlinkClick r:id="rId10"/>
              </a:rPr>
              <a:t>https://aeroin.net/escassez-de-motores-obriga-embraer-a-reduzir-expectativa-de-producao-de-e-jets-em-2024/</a:t>
            </a:r>
            <a:r>
              <a:rPr lang="pt-BR" sz="1000">
                <a:latin typeface="Arial"/>
                <a:cs typeface="Times New Roman"/>
              </a:rPr>
              <a:t>. Acesso em: 9 mar.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Times New Roman"/>
              </a:rPr>
              <a:t>PODER AÉREO.</a:t>
            </a:r>
            <a:r>
              <a:rPr lang="pt-BR" sz="1000" i="1">
                <a:latin typeface="Arial"/>
                <a:cs typeface="Times New Roman"/>
              </a:rPr>
              <a:t> Mudança de natureza: verbas de Gripen e KC-390 deixam de ser investimentos. </a:t>
            </a:r>
            <a:r>
              <a:rPr lang="pt-BR" sz="1000">
                <a:latin typeface="Arial"/>
                <a:cs typeface="Times New Roman"/>
              </a:rPr>
              <a:t>2024. Disponível em: </a:t>
            </a:r>
            <a:r>
              <a:rPr lang="pt-BR" sz="1000">
                <a:latin typeface="Arial"/>
                <a:cs typeface="Times New Roman"/>
                <a:hlinkClick r:id="rId11"/>
              </a:rPr>
              <a:t>https://www.aereo.jor.br/2024/07/03/mudanca-de-natureza-verbas-de-gripen-e-kc-390-deixam-de-ser-investimentos/</a:t>
            </a:r>
            <a:r>
              <a:rPr lang="pt-BR" sz="1000">
                <a:latin typeface="Arial"/>
                <a:cs typeface="Times New Roman"/>
              </a:rPr>
              <a:t>. Acesso em: 14 mar.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Times New Roman"/>
              </a:rPr>
              <a:t>FINANCIAL TIMES.</a:t>
            </a:r>
            <a:r>
              <a:rPr lang="pt-BR" sz="1000" i="1">
                <a:latin typeface="Arial"/>
                <a:cs typeface="Times New Roman"/>
              </a:rPr>
              <a:t> Embraer banks </a:t>
            </a:r>
            <a:r>
              <a:rPr lang="pt-BR" sz="1000" i="1" err="1">
                <a:latin typeface="Arial"/>
                <a:cs typeface="Times New Roman"/>
              </a:rPr>
              <a:t>on</a:t>
            </a:r>
            <a:r>
              <a:rPr lang="pt-BR" sz="1000" i="1">
                <a:latin typeface="Arial"/>
                <a:cs typeface="Times New Roman"/>
              </a:rPr>
              <a:t> regional </a:t>
            </a:r>
            <a:r>
              <a:rPr lang="pt-BR" sz="1000" i="1" err="1">
                <a:latin typeface="Arial"/>
                <a:cs typeface="Times New Roman"/>
              </a:rPr>
              <a:t>jets</a:t>
            </a:r>
            <a:r>
              <a:rPr lang="pt-BR" sz="1000" i="1">
                <a:latin typeface="Arial"/>
                <a:cs typeface="Times New Roman"/>
              </a:rPr>
              <a:t> </a:t>
            </a:r>
            <a:r>
              <a:rPr lang="pt-BR" sz="1000" i="1" err="1">
                <a:latin typeface="Arial"/>
                <a:cs typeface="Times New Roman"/>
              </a:rPr>
              <a:t>to</a:t>
            </a:r>
            <a:r>
              <a:rPr lang="pt-BR" sz="1000" i="1">
                <a:latin typeface="Arial"/>
                <a:cs typeface="Times New Roman"/>
              </a:rPr>
              <a:t> </a:t>
            </a:r>
            <a:r>
              <a:rPr lang="pt-BR" sz="1000" i="1" err="1">
                <a:latin typeface="Arial"/>
                <a:cs typeface="Times New Roman"/>
              </a:rPr>
              <a:t>double</a:t>
            </a:r>
            <a:r>
              <a:rPr lang="pt-BR" sz="1000" i="1">
                <a:latin typeface="Arial"/>
                <a:cs typeface="Times New Roman"/>
              </a:rPr>
              <a:t> </a:t>
            </a:r>
            <a:r>
              <a:rPr lang="pt-BR" sz="1000" i="1" err="1">
                <a:latin typeface="Arial"/>
                <a:cs typeface="Times New Roman"/>
              </a:rPr>
              <a:t>revenues</a:t>
            </a:r>
            <a:r>
              <a:rPr lang="en-US" sz="1000" i="1">
                <a:latin typeface="Arial"/>
                <a:cs typeface="Times New Roman"/>
              </a:rPr>
              <a:t> by end of decade</a:t>
            </a:r>
            <a:r>
              <a:rPr lang="pt-BR" sz="1000">
                <a:latin typeface="Arial"/>
                <a:cs typeface="Times New Roman"/>
              </a:rPr>
              <a:t>. 2024. Disponível em: </a:t>
            </a:r>
            <a:r>
              <a:rPr lang="pt-BR" sz="1000">
                <a:latin typeface="Arial"/>
                <a:cs typeface="Times New Roman"/>
                <a:hlinkClick r:id="rId12"/>
              </a:rPr>
              <a:t>https://www.ft.com/content/e3edc599-8ee5-448f-b05f-8c89fb658bcb</a:t>
            </a:r>
            <a:r>
              <a:rPr lang="pt-BR" sz="1000">
                <a:latin typeface="Arial"/>
                <a:cs typeface="Times New Roman"/>
              </a:rPr>
              <a:t>. Acesso em: 14 mar. 2025.</a:t>
            </a:r>
            <a:endParaRPr lang="en-US" sz="1000">
              <a:latin typeface="Arial"/>
              <a:cs typeface="Times New Roman"/>
            </a:endParaRPr>
          </a:p>
          <a:p>
            <a:endParaRPr lang="pt-BR" sz="1200">
              <a:latin typeface="Times New Roman"/>
              <a:cs typeface="Times New Roman"/>
            </a:endParaRPr>
          </a:p>
          <a:p>
            <a:endParaRPr lang="pt-BR"/>
          </a:p>
        </p:txBody>
      </p:sp>
      <p:pic>
        <p:nvPicPr>
          <p:cNvPr id="5" name="Imagem 4" descr="Embraer Logo – PNG e Vetor – Download de Logo">
            <a:extLst>
              <a:ext uri="{FF2B5EF4-FFF2-40B4-BE49-F238E27FC236}">
                <a16:creationId xmlns:a16="http://schemas.microsoft.com/office/drawing/2014/main" id="{84A72FE1-732D-08CE-3C68-C88F0712291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08672" y="5682672"/>
            <a:ext cx="1681019" cy="169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69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84EB3-7272-B4A5-BF5C-1CFDEA86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AEB18-E4EB-BF80-EFE5-E0AF8EA9D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50" y="688849"/>
            <a:ext cx="5008230" cy="835152"/>
          </a:xfrm>
        </p:spPr>
        <p:txBody>
          <a:bodyPr>
            <a:noAutofit/>
          </a:bodyPr>
          <a:lstStyle/>
          <a:p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Referências </a:t>
            </a: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5947CB78-B9FB-6F22-522F-4FDE9D14F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riângulo Retângulo 3">
            <a:extLst>
              <a:ext uri="{FF2B5EF4-FFF2-40B4-BE49-F238E27FC236}">
                <a16:creationId xmlns:a16="http://schemas.microsoft.com/office/drawing/2014/main" id="{BD8D5EA6-424D-9F33-0857-AAE9DC9338BD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Download Free Reference Icons in PNG &amp; SVG">
            <a:extLst>
              <a:ext uri="{FF2B5EF4-FFF2-40B4-BE49-F238E27FC236}">
                <a16:creationId xmlns:a16="http://schemas.microsoft.com/office/drawing/2014/main" id="{E1AD7E9D-5635-482D-17C5-9A1318FA8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829" y="5786563"/>
            <a:ext cx="860425" cy="860425"/>
          </a:xfrm>
          <a:prstGeom prst="rect">
            <a:avLst/>
          </a:prstGeom>
          <a:noFill/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6BF22C-E17D-FD39-C948-4377837A6563}"/>
              </a:ext>
            </a:extLst>
          </p:cNvPr>
          <p:cNvSpPr>
            <a:spLocks noGrp="1"/>
          </p:cNvSpPr>
          <p:nvPr/>
        </p:nvSpPr>
        <p:spPr>
          <a:xfrm>
            <a:off x="1563399" y="1521547"/>
            <a:ext cx="9501942" cy="46557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>
                <a:latin typeface="Arial"/>
                <a:cs typeface="Times New Roman"/>
              </a:rPr>
              <a:t>AIRWAY. </a:t>
            </a:r>
            <a:r>
              <a:rPr lang="pt-BR" sz="1000" i="1">
                <a:latin typeface="Arial"/>
                <a:cs typeface="Times New Roman"/>
              </a:rPr>
              <a:t>E2 </a:t>
            </a:r>
            <a:r>
              <a:rPr lang="pt-BR" sz="1000" i="1" err="1">
                <a:latin typeface="Arial"/>
                <a:cs typeface="Times New Roman"/>
              </a:rPr>
              <a:t>vs</a:t>
            </a:r>
            <a:r>
              <a:rPr lang="pt-BR" sz="1000" i="1">
                <a:latin typeface="Arial"/>
                <a:cs typeface="Times New Roman"/>
              </a:rPr>
              <a:t> A220: Embraer bateu pedidos da Airbus em 2024.</a:t>
            </a:r>
            <a:r>
              <a:rPr lang="pt-BR" sz="1000">
                <a:latin typeface="Arial"/>
                <a:cs typeface="Times New Roman"/>
              </a:rPr>
              <a:t> Aviação comercial, 2025. Disponível em: </a:t>
            </a:r>
            <a:r>
              <a:rPr lang="pt-BR" sz="1000">
                <a:latin typeface="Arial"/>
                <a:cs typeface="Times New Roman"/>
                <a:hlinkClick r:id="rId4"/>
              </a:rPr>
              <a:t>https://www.airway.com.br/embraer-diminui-distancia-em-pedidos-do-e2-para-o-airbus-a220/</a:t>
            </a:r>
            <a:r>
              <a:rPr lang="pt-BR" sz="1000">
                <a:latin typeface="Arial"/>
                <a:cs typeface="Times New Roman"/>
              </a:rPr>
              <a:t>. Acesso em: 10 mar.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Times New Roman"/>
                <a:hlinkClick r:id="rId5"/>
              </a:rPr>
              <a:t>AEROIN. </a:t>
            </a:r>
            <a:r>
              <a:rPr lang="pt-BR" sz="1000" i="1">
                <a:latin typeface="Arial"/>
                <a:cs typeface="Times New Roman"/>
                <a:hlinkClick r:id="rId5"/>
              </a:rPr>
              <a:t>Bombardier sai do programa Airbus A220 e se desliga por completo da aviação comercial.</a:t>
            </a:r>
            <a:r>
              <a:rPr lang="pt-BR" sz="1000">
                <a:latin typeface="Arial"/>
                <a:cs typeface="Times New Roman"/>
                <a:hlinkClick r:id="rId5"/>
              </a:rPr>
              <a:t> Indústria Aeronáutica, 2020. Disponível em: https://aeroin.net/bombardier-sai-programa-airbus-a220-se-desliga-aviacao-comercial/. Acesso em: 14 mar. 2025.</a:t>
            </a:r>
            <a:r>
              <a:rPr lang="pt-BR" sz="1000">
                <a:latin typeface="Arial"/>
                <a:cs typeface="Times New Roman"/>
              </a:rPr>
              <a:t>. Acesso em: 21 fev.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en-US" sz="1000">
                <a:latin typeface="Arial"/>
                <a:cs typeface="Times New Roman"/>
              </a:rPr>
              <a:t>THE WALL STREET JOURNAL. </a:t>
            </a:r>
            <a:r>
              <a:rPr lang="en-US" sz="1000" i="1">
                <a:latin typeface="Arial"/>
                <a:cs typeface="Times New Roman"/>
              </a:rPr>
              <a:t>Brazil's Embraer Plots a New 737-Sized Jet to Rival Boeing. Airlines</a:t>
            </a:r>
            <a:r>
              <a:rPr lang="en-US" sz="1000">
                <a:latin typeface="Arial"/>
                <a:cs typeface="Times New Roman"/>
              </a:rPr>
              <a:t>, 2024. </a:t>
            </a:r>
            <a:r>
              <a:rPr lang="en-US" sz="1000" err="1">
                <a:latin typeface="Arial"/>
                <a:cs typeface="Times New Roman"/>
              </a:rPr>
              <a:t>Disponível</a:t>
            </a:r>
            <a:r>
              <a:rPr lang="en-US" sz="1000">
                <a:latin typeface="Arial"/>
                <a:cs typeface="Times New Roman"/>
              </a:rPr>
              <a:t> </a:t>
            </a:r>
            <a:r>
              <a:rPr lang="en-US" sz="1000" err="1">
                <a:latin typeface="Arial"/>
                <a:cs typeface="Times New Roman"/>
              </a:rPr>
              <a:t>em</a:t>
            </a:r>
            <a:r>
              <a:rPr lang="en-US" sz="1000">
                <a:latin typeface="Arial"/>
                <a:cs typeface="Times New Roman"/>
              </a:rPr>
              <a:t>: </a:t>
            </a:r>
            <a:r>
              <a:rPr lang="en-US" sz="1000">
                <a:latin typeface="Arial"/>
                <a:cs typeface="Times New Roman"/>
                <a:hlinkClick r:id="rId6"/>
              </a:rPr>
              <a:t>https://www.wsj.com/business/airlines/boeing-partner-embraer-aircraft-manufacturing-edf3758a</a:t>
            </a:r>
            <a:r>
              <a:rPr lang="en-US" sz="1000">
                <a:latin typeface="Arial"/>
                <a:cs typeface="Times New Roman"/>
              </a:rPr>
              <a:t>. </a:t>
            </a:r>
            <a:r>
              <a:rPr lang="en-US" sz="1000" err="1">
                <a:latin typeface="Arial"/>
                <a:cs typeface="Times New Roman"/>
              </a:rPr>
              <a:t>Acesso</a:t>
            </a:r>
            <a:r>
              <a:rPr lang="en-US" sz="1000">
                <a:latin typeface="Arial"/>
                <a:cs typeface="Times New Roman"/>
              </a:rPr>
              <a:t> </a:t>
            </a:r>
            <a:r>
              <a:rPr lang="en-US" sz="1000" err="1">
                <a:latin typeface="Arial"/>
                <a:cs typeface="Times New Roman"/>
              </a:rPr>
              <a:t>em</a:t>
            </a:r>
            <a:r>
              <a:rPr lang="en-US" sz="1000">
                <a:latin typeface="Arial"/>
                <a:cs typeface="Times New Roman"/>
              </a:rPr>
              <a:t>: 14 mar. 2025.</a:t>
            </a:r>
            <a:endParaRPr lang="pt-BR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Times New Roman"/>
              </a:rPr>
              <a:t>EMBRAER. </a:t>
            </a:r>
            <a:r>
              <a:rPr lang="pt-BR" sz="1000" i="1">
                <a:latin typeface="Arial"/>
                <a:cs typeface="Times New Roman"/>
              </a:rPr>
              <a:t>Estrutura organizacional. Relações com Investidores</a:t>
            </a:r>
            <a:r>
              <a:rPr lang="pt-BR" sz="1000">
                <a:latin typeface="Arial"/>
                <a:cs typeface="Times New Roman"/>
              </a:rPr>
              <a:t>, 2025. Disponível em: </a:t>
            </a:r>
            <a:r>
              <a:rPr lang="pt-BR" sz="1000">
                <a:latin typeface="Arial"/>
                <a:cs typeface="Times New Roman"/>
                <a:hlinkClick r:id="rId7"/>
              </a:rPr>
              <a:t>https://ri.embraer.com.br/governanca/estrutura-organizacional-2/</a:t>
            </a:r>
            <a:r>
              <a:rPr lang="pt-BR" sz="1000">
                <a:latin typeface="Arial"/>
                <a:cs typeface="Times New Roman"/>
              </a:rPr>
              <a:t>. Acesso em: 14 mar.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Times New Roman"/>
              </a:rPr>
              <a:t>UOL. </a:t>
            </a:r>
            <a:r>
              <a:rPr lang="pt-BR" sz="1000" i="1">
                <a:latin typeface="Arial"/>
                <a:cs typeface="Times New Roman"/>
              </a:rPr>
              <a:t>Embraer tem aviões em 120 companhias no mundo; concorrente está em 8 apenas. Todos a Bordo,</a:t>
            </a:r>
            <a:r>
              <a:rPr lang="pt-BR" sz="1000">
                <a:latin typeface="Arial"/>
                <a:cs typeface="Times New Roman"/>
              </a:rPr>
              <a:t> 2020. Disponível em: </a:t>
            </a:r>
            <a:r>
              <a:rPr lang="pt-BR" sz="1000">
                <a:latin typeface="Arial"/>
                <a:cs typeface="Times New Roman"/>
                <a:hlinkClick r:id="rId8"/>
              </a:rPr>
              <a:t>https://economia.uol.com.br/todos-a-bordo/2020/02/10/companhias-aereas-que-voam-embraer.htm</a:t>
            </a:r>
            <a:r>
              <a:rPr lang="pt-BR" sz="1000">
                <a:latin typeface="Arial"/>
                <a:cs typeface="Times New Roman"/>
              </a:rPr>
              <a:t>. Acesso em: 17 mar.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Times New Roman"/>
              </a:rPr>
              <a:t>CLICK PETRÓLEO E GÁS. </a:t>
            </a:r>
            <a:r>
              <a:rPr lang="pt-BR" sz="1000" i="1">
                <a:latin typeface="Arial"/>
                <a:cs typeface="Times New Roman"/>
              </a:rPr>
              <a:t>Orgulho nacional! Embraer domina mercado global, deixa gigantes para trás e posiciona o Brasil como líder mundial ao vender dezenas de aeronaves militares em tempo recorde.</a:t>
            </a:r>
            <a:r>
              <a:rPr lang="pt-BR" sz="1000">
                <a:latin typeface="Arial"/>
                <a:cs typeface="Times New Roman"/>
              </a:rPr>
              <a:t> Indústria, 2025. Disponível em: </a:t>
            </a:r>
            <a:r>
              <a:rPr lang="pt-BR" sz="1000">
                <a:latin typeface="Arial"/>
                <a:cs typeface="Times New Roman"/>
                <a:hlinkClick r:id="rId9"/>
              </a:rPr>
              <a:t>https://clickpetroleoegas.com.br/orgulho-nacional-embraer-domina-mercado-global-deixa-gigantes-para-tras-e-posiciona-o-brasil-lider-mundial-ao-vender-dezenas-de-aeronaves-militares/</a:t>
            </a:r>
            <a:r>
              <a:rPr lang="pt-BR" sz="1000">
                <a:latin typeface="Arial"/>
                <a:cs typeface="Times New Roman"/>
              </a:rPr>
              <a:t>. Acesso em: 28 mar.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Times New Roman"/>
              </a:rPr>
              <a:t>EMBRAER. </a:t>
            </a:r>
            <a:r>
              <a:rPr lang="pt-BR" sz="1000" i="1">
                <a:latin typeface="Arial"/>
                <a:cs typeface="Times New Roman"/>
              </a:rPr>
              <a:t>C-390 Millennium. Defesa &amp; Segurança</a:t>
            </a:r>
            <a:r>
              <a:rPr lang="pt-BR" sz="1000">
                <a:latin typeface="Arial"/>
                <a:cs typeface="Times New Roman"/>
              </a:rPr>
              <a:t>, 2025. Disponível em: </a:t>
            </a:r>
            <a:r>
              <a:rPr lang="pt-BR" sz="1000">
                <a:latin typeface="Arial"/>
                <a:cs typeface="Times New Roman"/>
                <a:hlinkClick r:id="rId10"/>
              </a:rPr>
              <a:t>https://defense.embraer.com/pt/air/c-390/</a:t>
            </a:r>
            <a:r>
              <a:rPr lang="pt-BR" sz="1000">
                <a:latin typeface="Arial"/>
                <a:cs typeface="Times New Roman"/>
              </a:rPr>
              <a:t>. Acesso em: 4 abr.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Times New Roman"/>
              </a:rPr>
              <a:t>CANVAS BUSINESS MODEL. </a:t>
            </a:r>
            <a:r>
              <a:rPr lang="pt-BR" sz="1000" i="1">
                <a:latin typeface="Arial"/>
                <a:cs typeface="Times New Roman"/>
              </a:rPr>
              <a:t>Missão, Visão e Valores Core do Embraer.</a:t>
            </a:r>
            <a:r>
              <a:rPr lang="pt-BR" sz="1000">
                <a:latin typeface="Arial"/>
                <a:cs typeface="Times New Roman"/>
              </a:rPr>
              <a:t> 2024. Disponível em: </a:t>
            </a:r>
            <a:r>
              <a:rPr lang="pt-BR" sz="1000">
                <a:latin typeface="Arial"/>
                <a:cs typeface="Times New Roman"/>
                <a:hlinkClick r:id="rId11"/>
              </a:rPr>
              <a:t>https://canvasbusinessmodel.com/pt/blogs/mission/embraer-mission</a:t>
            </a:r>
            <a:r>
              <a:rPr lang="pt-BR" sz="1000">
                <a:latin typeface="Arial"/>
                <a:cs typeface="Times New Roman"/>
              </a:rPr>
              <a:t>. Acesso em: 5 abr.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Times New Roman"/>
              </a:rPr>
              <a:t>EMBRAER. </a:t>
            </a:r>
            <a:r>
              <a:rPr lang="pt-BR" sz="1000" i="1">
                <a:latin typeface="Arial"/>
                <a:cs typeface="Times New Roman"/>
              </a:rPr>
              <a:t>Valores</a:t>
            </a:r>
            <a:r>
              <a:rPr lang="pt-BR" sz="1000">
                <a:latin typeface="Arial"/>
                <a:cs typeface="Times New Roman"/>
              </a:rPr>
              <a:t>. 2025. Disponível em: </a:t>
            </a:r>
            <a:r>
              <a:rPr lang="pt-BR" sz="1000">
                <a:latin typeface="Arial"/>
                <a:cs typeface="Times New Roman"/>
                <a:hlinkClick r:id="rId12"/>
              </a:rPr>
              <a:t>https://embraer.com/br/pt/valores</a:t>
            </a:r>
            <a:r>
              <a:rPr lang="pt-BR" sz="1000">
                <a:latin typeface="Arial"/>
                <a:cs typeface="Times New Roman"/>
              </a:rPr>
              <a:t>. Acesso em: 9 abr. 2025.</a:t>
            </a:r>
            <a:r>
              <a:rPr lang="pt-BR" sz="1000" b="1">
                <a:latin typeface="Arial"/>
                <a:cs typeface="Times New Roman"/>
              </a:rPr>
              <a:t> </a:t>
            </a:r>
            <a:endParaRPr lang="pt-BR" sz="1000">
              <a:latin typeface="Arial"/>
              <a:cs typeface="Times New Roman"/>
            </a:endParaRPr>
          </a:p>
          <a:p>
            <a:endParaRPr lang="pt-BR" sz="1000">
              <a:latin typeface="Arial"/>
              <a:cs typeface="Times New Roman"/>
            </a:endParaRPr>
          </a:p>
        </p:txBody>
      </p:sp>
      <p:pic>
        <p:nvPicPr>
          <p:cNvPr id="5" name="Imagem 4" descr="Embraer Logo – PNG e Vetor – Download de Logo">
            <a:extLst>
              <a:ext uri="{FF2B5EF4-FFF2-40B4-BE49-F238E27FC236}">
                <a16:creationId xmlns:a16="http://schemas.microsoft.com/office/drawing/2014/main" id="{9010F011-FA4D-D2C4-CD2A-AD9B2842229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08672" y="5682672"/>
            <a:ext cx="1681019" cy="169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113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43916-FAAB-C784-4BA8-43B4DDE3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C4ACD-476B-E8FD-5D7C-F0CEB30CE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50" y="688849"/>
            <a:ext cx="5008230" cy="835152"/>
          </a:xfrm>
        </p:spPr>
        <p:txBody>
          <a:bodyPr>
            <a:noAutofit/>
          </a:bodyPr>
          <a:lstStyle/>
          <a:p>
            <a: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  <a:t>Referências </a:t>
            </a: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E284DE13-0B00-9FD1-D96D-A9E60C9CC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911" y="124518"/>
            <a:ext cx="2309086" cy="60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riângulo Retângulo 3">
            <a:extLst>
              <a:ext uri="{FF2B5EF4-FFF2-40B4-BE49-F238E27FC236}">
                <a16:creationId xmlns:a16="http://schemas.microsoft.com/office/drawing/2014/main" id="{42123313-1381-9428-14A8-72FA9A5BEDD2}"/>
              </a:ext>
            </a:extLst>
          </p:cNvPr>
          <p:cNvSpPr/>
          <p:nvPr/>
        </p:nvSpPr>
        <p:spPr>
          <a:xfrm>
            <a:off x="-22462" y="4693920"/>
            <a:ext cx="2506582" cy="2164080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Download Free Reference Icons in PNG &amp; SVG">
            <a:extLst>
              <a:ext uri="{FF2B5EF4-FFF2-40B4-BE49-F238E27FC236}">
                <a16:creationId xmlns:a16="http://schemas.microsoft.com/office/drawing/2014/main" id="{7ACA0F51-DFF9-6644-EA35-C7E104A9D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829" y="5786563"/>
            <a:ext cx="860425" cy="860425"/>
          </a:xfrm>
          <a:prstGeom prst="rect">
            <a:avLst/>
          </a:prstGeom>
          <a:noFill/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630FB4-E464-0CB3-8EA6-935A977F5A0E}"/>
              </a:ext>
            </a:extLst>
          </p:cNvPr>
          <p:cNvSpPr>
            <a:spLocks noGrp="1"/>
          </p:cNvSpPr>
          <p:nvPr/>
        </p:nvSpPr>
        <p:spPr>
          <a:xfrm>
            <a:off x="1563399" y="1521547"/>
            <a:ext cx="9501942" cy="46557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>
                <a:latin typeface="Arial"/>
                <a:cs typeface="Times New Roman"/>
              </a:rPr>
              <a:t>EMBRAER. </a:t>
            </a:r>
            <a:r>
              <a:rPr lang="pt-BR" sz="1000" i="1">
                <a:latin typeface="Arial"/>
                <a:cs typeface="Times New Roman"/>
              </a:rPr>
              <a:t>Política Corporativa de Meio Ambiente, Saúde e Segurança (EHS)</a:t>
            </a:r>
            <a:r>
              <a:rPr lang="pt-BR" sz="1000">
                <a:latin typeface="Arial"/>
                <a:cs typeface="Times New Roman"/>
              </a:rPr>
              <a:t>. 2021. Disponível em: </a:t>
            </a:r>
            <a:r>
              <a:rPr lang="pt-BR" sz="1000">
                <a:latin typeface="Arial"/>
                <a:cs typeface="Times New Roman"/>
                <a:hlinkClick r:id="rId4"/>
              </a:rPr>
              <a:t>https://embraer.bynder.com/m/5d4e90c9c49113e2/original/EHS-Corporate-Policy.pdf</a:t>
            </a:r>
            <a:r>
              <a:rPr lang="pt-BR" sz="1000">
                <a:latin typeface="Arial"/>
                <a:cs typeface="Times New Roman"/>
              </a:rPr>
              <a:t>. Acesso em: 17 abr.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Times New Roman"/>
              </a:rPr>
              <a:t>EXAME. </a:t>
            </a:r>
            <a:r>
              <a:rPr lang="pt-BR" sz="1000" i="1">
                <a:latin typeface="Arial"/>
                <a:cs typeface="Times New Roman"/>
              </a:rPr>
              <a:t>Os 10 maiores clientes da Embraer.</a:t>
            </a:r>
            <a:r>
              <a:rPr lang="pt-BR" sz="1000">
                <a:latin typeface="Arial"/>
                <a:cs typeface="Times New Roman"/>
              </a:rPr>
              <a:t> Negócios, 2013. Disponível em: </a:t>
            </a:r>
            <a:r>
              <a:rPr lang="pt-BR" sz="1000">
                <a:latin typeface="Arial"/>
                <a:cs typeface="Times New Roman"/>
                <a:hlinkClick r:id="rId5"/>
              </a:rPr>
              <a:t>https://exame.com/negocios/veja-a-lista-dos-10-maiores-pedidos-da-embraer/</a:t>
            </a:r>
            <a:r>
              <a:rPr lang="pt-BR" sz="1000">
                <a:latin typeface="Arial"/>
                <a:cs typeface="Times New Roman"/>
              </a:rPr>
              <a:t>. Acesso em: 21 abr.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en-US" sz="1000">
                <a:latin typeface="Arial"/>
                <a:cs typeface="Times New Roman"/>
              </a:rPr>
              <a:t>AVIATION SOURCE NEWS. </a:t>
            </a:r>
            <a:r>
              <a:rPr lang="en-US" sz="1000" i="1">
                <a:latin typeface="Arial"/>
                <a:cs typeface="Times New Roman"/>
              </a:rPr>
              <a:t>Global Air Travel Demand Continues to Rise in October. 2024</a:t>
            </a:r>
            <a:r>
              <a:rPr lang="en-US" sz="1000">
                <a:latin typeface="Arial"/>
                <a:cs typeface="Times New Roman"/>
              </a:rPr>
              <a:t>. </a:t>
            </a:r>
            <a:r>
              <a:rPr lang="en-US" sz="1000" err="1">
                <a:latin typeface="Arial"/>
                <a:cs typeface="Times New Roman"/>
              </a:rPr>
              <a:t>Disponível</a:t>
            </a:r>
            <a:r>
              <a:rPr lang="en-US" sz="1000">
                <a:latin typeface="Arial"/>
                <a:cs typeface="Times New Roman"/>
              </a:rPr>
              <a:t> </a:t>
            </a:r>
            <a:r>
              <a:rPr lang="en-US" sz="1000" err="1">
                <a:latin typeface="Arial"/>
                <a:cs typeface="Times New Roman"/>
              </a:rPr>
              <a:t>em</a:t>
            </a:r>
            <a:r>
              <a:rPr lang="en-US" sz="1000">
                <a:latin typeface="Arial"/>
                <a:cs typeface="Times New Roman"/>
              </a:rPr>
              <a:t>: </a:t>
            </a:r>
            <a:r>
              <a:rPr lang="en-US" sz="1000">
                <a:latin typeface="Arial"/>
                <a:cs typeface="Times New Roman"/>
                <a:hlinkClick r:id="rId6"/>
              </a:rPr>
              <a:t>https://aviationsourcenews.com/global-air-travel-demand-continues-to-rise-in-october/</a:t>
            </a:r>
            <a:r>
              <a:rPr lang="en-US" sz="1000">
                <a:latin typeface="Arial"/>
                <a:cs typeface="Times New Roman"/>
              </a:rPr>
              <a:t>. </a:t>
            </a:r>
            <a:r>
              <a:rPr lang="en-US" sz="1000" err="1">
                <a:latin typeface="Arial"/>
                <a:cs typeface="Times New Roman"/>
              </a:rPr>
              <a:t>Acesso</a:t>
            </a:r>
            <a:r>
              <a:rPr lang="en-US" sz="1000">
                <a:latin typeface="Arial"/>
                <a:cs typeface="Times New Roman"/>
              </a:rPr>
              <a:t> </a:t>
            </a:r>
            <a:r>
              <a:rPr lang="en-US" sz="1000" err="1">
                <a:latin typeface="Arial"/>
                <a:cs typeface="Times New Roman"/>
              </a:rPr>
              <a:t>em</a:t>
            </a:r>
            <a:r>
              <a:rPr lang="en-US" sz="1000">
                <a:latin typeface="Arial"/>
                <a:cs typeface="Times New Roman"/>
              </a:rPr>
              <a:t>: 3 mar. 2025.</a:t>
            </a:r>
          </a:p>
          <a:p>
            <a:r>
              <a:rPr lang="pt-BR" sz="1000">
                <a:latin typeface="Arial"/>
                <a:cs typeface="Times New Roman"/>
              </a:rPr>
              <a:t>PANROTAS. </a:t>
            </a:r>
            <a:r>
              <a:rPr lang="pt-BR" sz="1000" i="1">
                <a:latin typeface="Arial"/>
                <a:cs typeface="Times New Roman"/>
              </a:rPr>
              <a:t>Brasileiros consideram essencial ter </a:t>
            </a:r>
            <a:r>
              <a:rPr lang="pt-BR" sz="1000" i="1" err="1">
                <a:latin typeface="Arial"/>
                <a:cs typeface="Times New Roman"/>
              </a:rPr>
              <a:t>wi-fi</a:t>
            </a:r>
            <a:r>
              <a:rPr lang="pt-BR" sz="1000" i="1">
                <a:latin typeface="Arial"/>
                <a:cs typeface="Times New Roman"/>
              </a:rPr>
              <a:t> em voos longos; veja estudo da Viasat. Aviação</a:t>
            </a:r>
            <a:r>
              <a:rPr lang="pt-BR" sz="1000">
                <a:latin typeface="Arial"/>
                <a:cs typeface="Times New Roman"/>
              </a:rPr>
              <a:t>, 2024. Disponível em: </a:t>
            </a:r>
            <a:r>
              <a:rPr lang="pt-BR" sz="1000">
                <a:latin typeface="Arial"/>
                <a:cs typeface="Times New Roman"/>
                <a:hlinkClick r:id="rId7"/>
              </a:rPr>
              <a:t>https://www.panrotas.com.br/aviacao/pesquisas-e-estatisticas/2024/12/brasileiros-consideram-essencial-ter-wi-fi-em-voos-longos-veja-estudo-da-viasat_212752.html</a:t>
            </a:r>
            <a:r>
              <a:rPr lang="pt-BR" sz="1000">
                <a:latin typeface="Arial"/>
                <a:cs typeface="Times New Roman"/>
              </a:rPr>
              <a:t>. Acesso em: 3 mar.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Times New Roman"/>
              </a:rPr>
              <a:t>GAZETA DO POVO. </a:t>
            </a:r>
            <a:r>
              <a:rPr lang="pt-BR" sz="1000" i="1">
                <a:latin typeface="Arial"/>
                <a:cs typeface="Times New Roman"/>
              </a:rPr>
              <a:t>Embraer perde encomenda de 60 aviões para rival Airbus em negociação com JetBlue.</a:t>
            </a:r>
            <a:r>
              <a:rPr lang="pt-BR" sz="1000">
                <a:latin typeface="Arial"/>
                <a:cs typeface="Times New Roman"/>
              </a:rPr>
              <a:t> Economia, 2018. Disponível em: </a:t>
            </a:r>
            <a:r>
              <a:rPr lang="pt-BR" sz="1000">
                <a:latin typeface="Arial"/>
                <a:cs typeface="Times New Roman"/>
                <a:hlinkClick r:id="rId8"/>
              </a:rPr>
              <a:t>https://www.gazetadopovo.com.br/economia/embraer-perde-encomenda-de-60-avioes-para-rival-airbus-em-negociacao-com-jetblue-83in462whk2477rp9zmbrunz0/</a:t>
            </a:r>
            <a:r>
              <a:rPr lang="pt-BR" sz="1000">
                <a:latin typeface="Arial"/>
                <a:cs typeface="Times New Roman"/>
              </a:rPr>
              <a:t>. Acesso em: 14 mar.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Times New Roman"/>
              </a:rPr>
              <a:t>FROTA&amp;CIA. </a:t>
            </a:r>
            <a:r>
              <a:rPr lang="pt-BR" sz="1000" i="1">
                <a:latin typeface="Arial"/>
                <a:cs typeface="Times New Roman"/>
              </a:rPr>
              <a:t>Prazo de entrega é maior preocupação entre empresas</a:t>
            </a:r>
            <a:r>
              <a:rPr lang="pt-BR" sz="1000">
                <a:latin typeface="Arial"/>
                <a:cs typeface="Times New Roman"/>
              </a:rPr>
              <a:t>. 2024. Disponível em: </a:t>
            </a:r>
            <a:r>
              <a:rPr lang="pt-BR" sz="1000">
                <a:latin typeface="Arial"/>
                <a:cs typeface="Times New Roman"/>
                <a:hlinkClick r:id="rId9"/>
              </a:rPr>
              <a:t>https://frotacia.com.br/prazo-de-entrega-e-maior-preocupacao-entre-empresas/</a:t>
            </a:r>
            <a:r>
              <a:rPr lang="pt-BR" sz="1000">
                <a:latin typeface="Arial"/>
                <a:cs typeface="Times New Roman"/>
              </a:rPr>
              <a:t>. Acesso em: 14 mar. 2025.</a:t>
            </a:r>
            <a:endParaRPr lang="en-US" sz="1000">
              <a:latin typeface="Arial"/>
              <a:cs typeface="Times New Roman"/>
            </a:endParaRPr>
          </a:p>
          <a:p>
            <a:r>
              <a:rPr lang="pt-BR" sz="1000">
                <a:latin typeface="Arial"/>
                <a:cs typeface="Arial"/>
              </a:rPr>
              <a:t>DCF MODELING. </a:t>
            </a:r>
            <a:r>
              <a:rPr lang="pt-BR" sz="1000" i="1">
                <a:latin typeface="Arial"/>
                <a:cs typeface="Arial"/>
              </a:rPr>
              <a:t>Declaração de missão, visão e valores centrais da Embraer S.A. (ERJ)</a:t>
            </a:r>
            <a:r>
              <a:rPr lang="pt-BR" sz="1000">
                <a:latin typeface="Arial"/>
                <a:cs typeface="Arial"/>
              </a:rPr>
              <a:t>. 2025. Disponível em: </a:t>
            </a:r>
            <a:r>
              <a:rPr lang="pt-BR" sz="1000">
                <a:latin typeface="Arial"/>
                <a:cs typeface="Arial"/>
                <a:hlinkClick r:id="rId10"/>
              </a:rPr>
              <a:t>https://dcfmodeling.com/pt/blogs/vision/erj-mission-vision</a:t>
            </a:r>
            <a:r>
              <a:rPr lang="pt-BR" sz="1000">
                <a:latin typeface="Arial"/>
                <a:cs typeface="Arial"/>
              </a:rPr>
              <a:t>. Acesso em: 15 abr. 2025.</a:t>
            </a:r>
            <a:endParaRPr lang="en-US" sz="1000">
              <a:latin typeface="Arial"/>
              <a:cs typeface="Arial"/>
            </a:endParaRPr>
          </a:p>
          <a:p>
            <a:r>
              <a:rPr lang="pt-BR" sz="1000">
                <a:latin typeface="Arial"/>
                <a:cs typeface="Arial"/>
              </a:rPr>
              <a:t>EMBRAER. </a:t>
            </a:r>
            <a:r>
              <a:rPr lang="pt-BR" sz="1000" i="1">
                <a:latin typeface="Arial"/>
                <a:cs typeface="Arial"/>
              </a:rPr>
              <a:t>Social</a:t>
            </a:r>
            <a:r>
              <a:rPr lang="pt-BR" sz="1000">
                <a:latin typeface="Arial"/>
                <a:cs typeface="Arial"/>
              </a:rPr>
              <a:t>. 2025. Disponível em: </a:t>
            </a:r>
            <a:r>
              <a:rPr lang="pt-BR" sz="1000">
                <a:latin typeface="Arial"/>
                <a:cs typeface="Arial"/>
                <a:hlinkClick r:id="rId11"/>
              </a:rPr>
              <a:t>https://www.embraer.com/br/pt/social</a:t>
            </a:r>
            <a:r>
              <a:rPr lang="pt-BR" sz="1000">
                <a:latin typeface="Arial"/>
                <a:cs typeface="Arial"/>
              </a:rPr>
              <a:t>. Acesso em: 17 abr. 2025.</a:t>
            </a:r>
            <a:endParaRPr lang="pt-BR"/>
          </a:p>
        </p:txBody>
      </p:sp>
      <p:pic>
        <p:nvPicPr>
          <p:cNvPr id="5" name="Imagem 4" descr="Embraer Logo – PNG e Vetor – Download de Logo">
            <a:extLst>
              <a:ext uri="{FF2B5EF4-FFF2-40B4-BE49-F238E27FC236}">
                <a16:creationId xmlns:a16="http://schemas.microsoft.com/office/drawing/2014/main" id="{095F93FA-0D3E-316B-7CA5-E715CFF3CEE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08672" y="5682672"/>
            <a:ext cx="1681019" cy="169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66277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C31F9135A14A49B22450EED64B7F87" ma:contentTypeVersion="6" ma:contentTypeDescription="Create a new document." ma:contentTypeScope="" ma:versionID="ef999405928b7ef79a575881cbf140ad">
  <xsd:schema xmlns:xsd="http://www.w3.org/2001/XMLSchema" xmlns:xs="http://www.w3.org/2001/XMLSchema" xmlns:p="http://schemas.microsoft.com/office/2006/metadata/properties" xmlns:ns3="67b18517-3394-4ba4-aa6a-439a87e74f1e" targetNamespace="http://schemas.microsoft.com/office/2006/metadata/properties" ma:root="true" ma:fieldsID="4836545735e15c6240fbf4528297f401" ns3:_="">
    <xsd:import namespace="67b18517-3394-4ba4-aa6a-439a87e74f1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b18517-3394-4ba4-aa6a-439a87e74f1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7b18517-3394-4ba4-aa6a-439a87e74f1e" xsi:nil="true"/>
  </documentManagement>
</p:properties>
</file>

<file path=customXml/itemProps1.xml><?xml version="1.0" encoding="utf-8"?>
<ds:datastoreItem xmlns:ds="http://schemas.openxmlformats.org/officeDocument/2006/customXml" ds:itemID="{62B16526-C32E-41CC-9E69-BB5C7B0D02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1C71C2-6EF7-4071-B9A0-C37876E0B2C7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67b18517-3394-4ba4-aa6a-439a87e74f1e"/>
  </ds:schemaRefs>
</ds:datastoreItem>
</file>

<file path=customXml/itemProps3.xml><?xml version="1.0" encoding="utf-8"?>
<ds:datastoreItem xmlns:ds="http://schemas.openxmlformats.org/officeDocument/2006/customXml" ds:itemID="{5368BDE1-0633-4C92-ADDB-EF6E470DC3F2}">
  <ds:schemaRefs>
    <ds:schemaRef ds:uri="http://schemas.microsoft.com/office/2006/metadata/properties"/>
    <ds:schemaRef ds:uri="http://www.w3.org/2000/xmlns/"/>
    <ds:schemaRef ds:uri="67b18517-3394-4ba4-aa6a-439a87e74f1e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28</Slides>
  <Notes>0</Notes>
  <HiddenSlides>1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29" baseType="lpstr">
      <vt:lpstr>GestaltVTI</vt:lpstr>
      <vt:lpstr>Conhecendo o Negócio </vt:lpstr>
      <vt:lpstr>Apresentação da equipe</vt:lpstr>
      <vt:lpstr>Introdução</vt:lpstr>
      <vt:lpstr>Apresentação da Empresa</vt:lpstr>
      <vt:lpstr>Apresentação da Empresa</vt:lpstr>
      <vt:lpstr>Missão</vt:lpstr>
      <vt:lpstr>Visão</vt:lpstr>
      <vt:lpstr>Valores</vt:lpstr>
      <vt:lpstr>Diferenciais competitivos</vt:lpstr>
      <vt:lpstr>Estrutura da Empresa </vt:lpstr>
      <vt:lpstr>Apresentação do PowerPoint</vt:lpstr>
      <vt:lpstr>Áreas Estratégicas da Empresa</vt:lpstr>
      <vt:lpstr>Análise SWOT – Pontos fortes (Crescimento)  </vt:lpstr>
      <vt:lpstr>Análise SWOT – Pontos fortes (Enfrentamento)</vt:lpstr>
      <vt:lpstr>Análise SWOT – Pontos fracos (Melhoria)  </vt:lpstr>
      <vt:lpstr>Análise SWOT – Pontos fracos (Defesa)   </vt:lpstr>
      <vt:lpstr>Apresentação do PowerPoint</vt:lpstr>
      <vt:lpstr>Apresentação do PowerPoint</vt:lpstr>
      <vt:lpstr>Balanced ScoreCard (BSC)   </vt:lpstr>
      <vt:lpstr>Balanced ScoreCard (BSC)   </vt:lpstr>
      <vt:lpstr>Plan-Do-Check-Action (PDCA)   </vt:lpstr>
      <vt:lpstr>Apresentação do PowerPoint</vt:lpstr>
      <vt:lpstr>Apresentação do PowerPoint</vt:lpstr>
      <vt:lpstr>Conclusão   </vt:lpstr>
      <vt:lpstr>Referências    </vt:lpstr>
      <vt:lpstr>Referências    </vt:lpstr>
      <vt:lpstr>Referências    </vt:lpstr>
      <vt:lpstr>Referências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Conhecendo o Negócio</dc:title>
  <dc:creator>Renato Franzan Fukuda</dc:creator>
  <cp:lastModifiedBy>Christian Silva</cp:lastModifiedBy>
  <cp:revision>2</cp:revision>
  <dcterms:created xsi:type="dcterms:W3CDTF">2025-03-15T15:29:57Z</dcterms:created>
  <dcterms:modified xsi:type="dcterms:W3CDTF">2026-03-04T02:01:13Z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0x01010083C31F9135A14A49B22450EED64B7F87</vt:lpwstr>
  </property>
</Properties>
</file>